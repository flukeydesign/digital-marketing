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66" r:id="rId2"/>
    <p:sldId id="267" r:id="rId3"/>
    <p:sldId id="283" r:id="rId4"/>
    <p:sldId id="268" r:id="rId5"/>
    <p:sldId id="269" r:id="rId6"/>
    <p:sldId id="265" r:id="rId7"/>
    <p:sldId id="270" r:id="rId8"/>
    <p:sldId id="274" r:id="rId9"/>
    <p:sldId id="273" r:id="rId10"/>
    <p:sldId id="275" r:id="rId11"/>
    <p:sldId id="276" r:id="rId12"/>
    <p:sldId id="277" r:id="rId13"/>
    <p:sldId id="272" r:id="rId14"/>
    <p:sldId id="278" r:id="rId15"/>
    <p:sldId id="280" r:id="rId16"/>
    <p:sldId id="284" r:id="rId17"/>
    <p:sldId id="271" r:id="rId18"/>
    <p:sldId id="282"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C800"/>
    <a:srgbClr val="8EE000"/>
    <a:srgbClr val="F3F4EF"/>
    <a:srgbClr val="99EE00"/>
    <a:srgbClr val="F48F00"/>
    <a:srgbClr val="91E2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8"/>
    <p:restoredTop sz="71429" autoAdjust="0"/>
  </p:normalViewPr>
  <p:slideViewPr>
    <p:cSldViewPr snapToGrid="0" snapToObjects="1">
      <p:cViewPr>
        <p:scale>
          <a:sx n="60" d="100"/>
          <a:sy n="60" d="100"/>
        </p:scale>
        <p:origin x="78" y="4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8C0105-11DD-416D-9355-7AD291AD3B0F}" type="datetimeFigureOut">
              <a:rPr lang="en-GB" smtClean="0"/>
              <a:t>10/12/2024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8EEB10-417D-44B1-9FC6-F7596A4CBC31}" type="slidenum">
              <a:rPr lang="en-GB" smtClean="0"/>
              <a:t>‹#›</a:t>
            </a:fld>
            <a:endParaRPr lang="en-GB"/>
          </a:p>
        </p:txBody>
      </p:sp>
    </p:spTree>
    <p:extLst>
      <p:ext uri="{BB962C8B-B14F-4D97-AF65-F5344CB8AC3E}">
        <p14:creationId xmlns:p14="http://schemas.microsoft.com/office/powerpoint/2010/main" val="117487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current Duolingo approach is benefits based however advertisement will include a portion of features based such as their 100+ languages available on the platform – these core concepts will be retained as well as built upon.</a:t>
            </a:r>
          </a:p>
        </p:txBody>
      </p:sp>
      <p:sp>
        <p:nvSpPr>
          <p:cNvPr id="4" name="Slide Number Placeholder 3"/>
          <p:cNvSpPr>
            <a:spLocks noGrp="1"/>
          </p:cNvSpPr>
          <p:nvPr>
            <p:ph type="sldNum" sz="quarter" idx="5"/>
          </p:nvPr>
        </p:nvSpPr>
        <p:spPr/>
        <p:txBody>
          <a:bodyPr/>
          <a:lstStyle/>
          <a:p>
            <a:fld id="{F88EEB10-417D-44B1-9FC6-F7596A4CBC31}" type="slidenum">
              <a:rPr lang="en-GB" smtClean="0"/>
              <a:t>2</a:t>
            </a:fld>
            <a:endParaRPr lang="en-GB"/>
          </a:p>
        </p:txBody>
      </p:sp>
    </p:spTree>
    <p:extLst>
      <p:ext uri="{BB962C8B-B14F-4D97-AF65-F5344CB8AC3E}">
        <p14:creationId xmlns:p14="http://schemas.microsoft.com/office/powerpoint/2010/main" val="33158261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Following McCarthy’s STP Process we can effectively breakdown Duolingo’s audience as well as the gaps in the market</a:t>
            </a:r>
          </a:p>
        </p:txBody>
      </p:sp>
      <p:sp>
        <p:nvSpPr>
          <p:cNvPr id="4" name="Slide Number Placeholder 3"/>
          <p:cNvSpPr>
            <a:spLocks noGrp="1"/>
          </p:cNvSpPr>
          <p:nvPr>
            <p:ph type="sldNum" sz="quarter" idx="5"/>
          </p:nvPr>
        </p:nvSpPr>
        <p:spPr/>
        <p:txBody>
          <a:bodyPr/>
          <a:lstStyle/>
          <a:p>
            <a:fld id="{F88EEB10-417D-44B1-9FC6-F7596A4CBC31}" type="slidenum">
              <a:rPr lang="en-GB" smtClean="0"/>
              <a:t>3</a:t>
            </a:fld>
            <a:endParaRPr lang="en-GB"/>
          </a:p>
        </p:txBody>
      </p:sp>
    </p:spTree>
    <p:extLst>
      <p:ext uri="{BB962C8B-B14F-4D97-AF65-F5344CB8AC3E}">
        <p14:creationId xmlns:p14="http://schemas.microsoft.com/office/powerpoint/2010/main" val="14603617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88EEB10-417D-44B1-9FC6-F7596A4CBC31}" type="slidenum">
              <a:rPr lang="en-GB" smtClean="0"/>
              <a:t>4</a:t>
            </a:fld>
            <a:endParaRPr lang="en-GB"/>
          </a:p>
        </p:txBody>
      </p:sp>
    </p:spTree>
    <p:extLst>
      <p:ext uri="{BB962C8B-B14F-4D97-AF65-F5344CB8AC3E}">
        <p14:creationId xmlns:p14="http://schemas.microsoft.com/office/powerpoint/2010/main" val="774013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58% of young families went overseas (up from 56%) as did 57% of older families (up from 50% in 2022)</a:t>
            </a:r>
          </a:p>
          <a:p>
            <a:pPr marL="171450" indent="-171450">
              <a:buFont typeface="Arial" panose="020B0604020202020204" pitchFamily="34" charset="0"/>
              <a:buChar char="•"/>
            </a:pPr>
            <a:endParaRPr lang="en-GB" dirty="0"/>
          </a:p>
          <a:p>
            <a:pPr marL="171450" indent="-171450">
              <a:buFont typeface="Arial" panose="020B0604020202020204" pitchFamily="34" charset="0"/>
              <a:buChar char="•"/>
            </a:pPr>
            <a:r>
              <a:rPr lang="en-GB" dirty="0"/>
              <a:t>Looking at families, like last year, those with younger children went on holiday abroad more often than those with older children, with young families taking an average of 2.3 trips and older families taking an average of 1.7 trips in the last 12 months.</a:t>
            </a:r>
          </a:p>
        </p:txBody>
      </p:sp>
      <p:sp>
        <p:nvSpPr>
          <p:cNvPr id="4" name="Slide Number Placeholder 3"/>
          <p:cNvSpPr>
            <a:spLocks noGrp="1"/>
          </p:cNvSpPr>
          <p:nvPr>
            <p:ph type="sldNum" sz="quarter" idx="5"/>
          </p:nvPr>
        </p:nvSpPr>
        <p:spPr/>
        <p:txBody>
          <a:bodyPr/>
          <a:lstStyle/>
          <a:p>
            <a:fld id="{F88EEB10-417D-44B1-9FC6-F7596A4CBC31}" type="slidenum">
              <a:rPr lang="en-GB" smtClean="0"/>
              <a:t>5</a:t>
            </a:fld>
            <a:endParaRPr lang="en-GB"/>
          </a:p>
        </p:txBody>
      </p:sp>
    </p:spTree>
    <p:extLst>
      <p:ext uri="{BB962C8B-B14F-4D97-AF65-F5344CB8AC3E}">
        <p14:creationId xmlns:p14="http://schemas.microsoft.com/office/powerpoint/2010/main" val="26401700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target audience will be the ones who will have an aged family capable of enjoying </a:t>
            </a:r>
            <a:r>
              <a:rPr lang="en-GB" dirty="0" err="1"/>
              <a:t>duolingo</a:t>
            </a:r>
            <a:r>
              <a:rPr lang="en-GB" dirty="0"/>
              <a:t> to its fullest but also be financially secure enough to afford </a:t>
            </a:r>
            <a:r>
              <a:rPr lang="en-GB" dirty="0" err="1"/>
              <a:t>duolingo</a:t>
            </a:r>
            <a:r>
              <a:rPr lang="en-GB" dirty="0"/>
              <a:t> alongside their travels abroad. </a:t>
            </a:r>
          </a:p>
          <a:p>
            <a:endParaRPr lang="en-GB" dirty="0"/>
          </a:p>
          <a:p>
            <a:r>
              <a:rPr lang="en-GB" dirty="0"/>
              <a:t>Following Maslow’s hierarchy of needs these people would be at the self-esteem stage, wanting to separate themselves from the rest of the regular travellers by differentiating themselves with a new language which they will compete against family for bragging rights but to also achieve status on a smaller scale of their family.</a:t>
            </a:r>
          </a:p>
        </p:txBody>
      </p:sp>
      <p:sp>
        <p:nvSpPr>
          <p:cNvPr id="4" name="Slide Number Placeholder 3"/>
          <p:cNvSpPr>
            <a:spLocks noGrp="1"/>
          </p:cNvSpPr>
          <p:nvPr>
            <p:ph type="sldNum" sz="quarter" idx="5"/>
          </p:nvPr>
        </p:nvSpPr>
        <p:spPr/>
        <p:txBody>
          <a:bodyPr/>
          <a:lstStyle/>
          <a:p>
            <a:fld id="{F88EEB10-417D-44B1-9FC6-F7596A4CBC31}" type="slidenum">
              <a:rPr lang="en-GB" smtClean="0"/>
              <a:t>6</a:t>
            </a:fld>
            <a:endParaRPr lang="en-GB"/>
          </a:p>
        </p:txBody>
      </p:sp>
    </p:spTree>
    <p:extLst>
      <p:ext uri="{BB962C8B-B14F-4D97-AF65-F5344CB8AC3E}">
        <p14:creationId xmlns:p14="http://schemas.microsoft.com/office/powerpoint/2010/main" val="18784060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88EEB10-417D-44B1-9FC6-F7596A4CBC31}" type="slidenum">
              <a:rPr lang="en-GB" smtClean="0"/>
              <a:t>7</a:t>
            </a:fld>
            <a:endParaRPr lang="en-GB"/>
          </a:p>
        </p:txBody>
      </p:sp>
    </p:spTree>
    <p:extLst>
      <p:ext uri="{BB962C8B-B14F-4D97-AF65-F5344CB8AC3E}">
        <p14:creationId xmlns:p14="http://schemas.microsoft.com/office/powerpoint/2010/main" val="2034241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Duolingo is the third most expensive subscription of its field with the second most available languages but the most available courses for multiple languages. </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This places </a:t>
            </a:r>
            <a:r>
              <a:rPr lang="en-GB" dirty="0" err="1"/>
              <a:t>duolingo</a:t>
            </a:r>
            <a:r>
              <a:rPr lang="en-GB" dirty="0"/>
              <a:t> with a big competitive advantage over most of its competitors and being the third cheapest indicates credibility to its learning process. </a:t>
            </a:r>
          </a:p>
          <a:p>
            <a:endParaRPr lang="en-GB" dirty="0"/>
          </a:p>
          <a:p>
            <a:endParaRPr lang="en-GB" dirty="0"/>
          </a:p>
          <a:p>
            <a:r>
              <a:rPr lang="en-GB" dirty="0"/>
              <a:t>This is also true for the free version however this time, it is the cheapest of its field, allowing users to get the full experience but for nothing, there is a few obstacles such as the ‘hearts’ game mechanic which limits users to 5 mistakes before they must stop. These kind of inconveniences push audiences to a subscription or a trial subscription to continue their fun gamified learning. </a:t>
            </a:r>
          </a:p>
          <a:p>
            <a:endParaRPr lang="en-GB" dirty="0"/>
          </a:p>
          <a:p>
            <a:r>
              <a:rPr lang="en-GB" dirty="0"/>
              <a:t>This strategy is very reminiscent of Spotify and once users have a feel for the paid experience and the added conveniences they are less likely to go back to the free version.</a:t>
            </a:r>
          </a:p>
        </p:txBody>
      </p:sp>
      <p:sp>
        <p:nvSpPr>
          <p:cNvPr id="4" name="Slide Number Placeholder 3"/>
          <p:cNvSpPr>
            <a:spLocks noGrp="1"/>
          </p:cNvSpPr>
          <p:nvPr>
            <p:ph type="sldNum" sz="quarter" idx="5"/>
          </p:nvPr>
        </p:nvSpPr>
        <p:spPr/>
        <p:txBody>
          <a:bodyPr/>
          <a:lstStyle/>
          <a:p>
            <a:fld id="{F88EEB10-417D-44B1-9FC6-F7596A4CBC31}" type="slidenum">
              <a:rPr lang="en-GB" smtClean="0"/>
              <a:t>8</a:t>
            </a:fld>
            <a:endParaRPr lang="en-GB"/>
          </a:p>
        </p:txBody>
      </p:sp>
    </p:spTree>
    <p:extLst>
      <p:ext uri="{BB962C8B-B14F-4D97-AF65-F5344CB8AC3E}">
        <p14:creationId xmlns:p14="http://schemas.microsoft.com/office/powerpoint/2010/main" val="41357981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Being a brand leader in the language learning sector meaning it has a very recognisable brand logo and mascot in their owl – while this bird may not mean much to an audience it is nonetheless distinct and works as a symbol to inform people that a green owl or even a green bird represents/connotations to Duolingo.</a:t>
            </a:r>
          </a:p>
        </p:txBody>
      </p:sp>
      <p:sp>
        <p:nvSpPr>
          <p:cNvPr id="4" name="Slide Number Placeholder 3"/>
          <p:cNvSpPr>
            <a:spLocks noGrp="1"/>
          </p:cNvSpPr>
          <p:nvPr>
            <p:ph type="sldNum" sz="quarter" idx="5"/>
          </p:nvPr>
        </p:nvSpPr>
        <p:spPr/>
        <p:txBody>
          <a:bodyPr/>
          <a:lstStyle/>
          <a:p>
            <a:fld id="{F88EEB10-417D-44B1-9FC6-F7596A4CBC31}" type="slidenum">
              <a:rPr lang="en-GB" smtClean="0"/>
              <a:t>9</a:t>
            </a:fld>
            <a:endParaRPr lang="en-GB"/>
          </a:p>
        </p:txBody>
      </p:sp>
    </p:spTree>
    <p:extLst>
      <p:ext uri="{BB962C8B-B14F-4D97-AF65-F5344CB8AC3E}">
        <p14:creationId xmlns:p14="http://schemas.microsoft.com/office/powerpoint/2010/main" val="8106401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040B9-0E61-EE4A-D8D2-998D8F2D5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4AD6AB-F2B4-4C21-F0D0-B51993712C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D90A37-C2E0-6643-9F51-FB78F8AB954B}"/>
              </a:ext>
            </a:extLst>
          </p:cNvPr>
          <p:cNvSpPr>
            <a:spLocks noGrp="1"/>
          </p:cNvSpPr>
          <p:nvPr>
            <p:ph type="body" idx="1"/>
          </p:nvPr>
        </p:nvSpPr>
        <p:spPr/>
        <p:txBody>
          <a:bodyPr/>
          <a:lstStyle/>
          <a:p>
            <a:r>
              <a:rPr lang="en-GB" dirty="0"/>
              <a:t>Duolingo being the brand leader and having affordable rates means there is room for some adjustments to pricing – I propose, like many of the other competitors, a lifetime subscription but specifically to one language course. The current pricing plans will stay the same, however, the ability to by a lifetime course means Duolingo can retain customers more, especially if they enjoy the course but also increase their short-term sales which could potentially become long-term sales. </a:t>
            </a:r>
          </a:p>
          <a:p>
            <a:endParaRPr lang="en-GB" dirty="0"/>
          </a:p>
        </p:txBody>
      </p:sp>
      <p:sp>
        <p:nvSpPr>
          <p:cNvPr id="4" name="Slide Number Placeholder 3">
            <a:extLst>
              <a:ext uri="{FF2B5EF4-FFF2-40B4-BE49-F238E27FC236}">
                <a16:creationId xmlns:a16="http://schemas.microsoft.com/office/drawing/2014/main" id="{9D70C5C8-0444-23B1-5EA2-A109E35E8824}"/>
              </a:ext>
            </a:extLst>
          </p:cNvPr>
          <p:cNvSpPr>
            <a:spLocks noGrp="1"/>
          </p:cNvSpPr>
          <p:nvPr>
            <p:ph type="sldNum" sz="quarter" idx="5"/>
          </p:nvPr>
        </p:nvSpPr>
        <p:spPr/>
        <p:txBody>
          <a:bodyPr/>
          <a:lstStyle/>
          <a:p>
            <a:fld id="{F88EEB10-417D-44B1-9FC6-F7596A4CBC31}" type="slidenum">
              <a:rPr lang="en-GB" smtClean="0"/>
              <a:t>10</a:t>
            </a:fld>
            <a:endParaRPr lang="en-GB"/>
          </a:p>
        </p:txBody>
      </p:sp>
    </p:spTree>
    <p:extLst>
      <p:ext uri="{BB962C8B-B14F-4D97-AF65-F5344CB8AC3E}">
        <p14:creationId xmlns:p14="http://schemas.microsoft.com/office/powerpoint/2010/main" val="14401454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CDA7F-BA59-857A-D302-D8CE0A4E1A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33FB16-1273-6A80-6FAE-D5A00D12F7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74CF86-6360-0978-F028-1229D731CCF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5272613-96C9-9D3C-8A98-BC538CAE5176}"/>
              </a:ext>
            </a:extLst>
          </p:cNvPr>
          <p:cNvSpPr>
            <a:spLocks noGrp="1"/>
          </p:cNvSpPr>
          <p:nvPr>
            <p:ph type="sldNum" sz="quarter" idx="5"/>
          </p:nvPr>
        </p:nvSpPr>
        <p:spPr/>
        <p:txBody>
          <a:bodyPr/>
          <a:lstStyle/>
          <a:p>
            <a:fld id="{F88EEB10-417D-44B1-9FC6-F7596A4CBC31}" type="slidenum">
              <a:rPr lang="en-GB" smtClean="0"/>
              <a:t>11</a:t>
            </a:fld>
            <a:endParaRPr lang="en-GB"/>
          </a:p>
        </p:txBody>
      </p:sp>
    </p:spTree>
    <p:extLst>
      <p:ext uri="{BB962C8B-B14F-4D97-AF65-F5344CB8AC3E}">
        <p14:creationId xmlns:p14="http://schemas.microsoft.com/office/powerpoint/2010/main" val="15584754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E9599-D074-6184-D1B9-340DA260CC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E802-AA8C-5E1E-7599-BD8F43E0A1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E73B6-D95A-1C14-AD5D-0616F0DDCD7E}"/>
              </a:ext>
            </a:extLst>
          </p:cNvPr>
          <p:cNvSpPr>
            <a:spLocks noGrp="1"/>
          </p:cNvSpPr>
          <p:nvPr>
            <p:ph type="body" idx="1"/>
          </p:nvPr>
        </p:nvSpPr>
        <p:spPr/>
        <p:txBody>
          <a:bodyPr/>
          <a:lstStyle/>
          <a:p>
            <a:r>
              <a:rPr lang="en-GB" dirty="0"/>
              <a:t>Duolingo is very good at creating relationships with customers through its characters and social media output which is very trend heavy connecting with its audience. This constant reminding of excitement and inevitable fulfilment will create joy and satisfaction within customers, who will maintain their loyalty to the brand due to these aforementioned emotions. Finally, these customers will help create brand advocates who will spread word of Duolingo on their own.</a:t>
            </a:r>
          </a:p>
          <a:p>
            <a:endParaRPr lang="en-GB" dirty="0"/>
          </a:p>
        </p:txBody>
      </p:sp>
      <p:sp>
        <p:nvSpPr>
          <p:cNvPr id="4" name="Slide Number Placeholder 3">
            <a:extLst>
              <a:ext uri="{FF2B5EF4-FFF2-40B4-BE49-F238E27FC236}">
                <a16:creationId xmlns:a16="http://schemas.microsoft.com/office/drawing/2014/main" id="{6AD835C9-DC55-DB20-0A6D-03EDA3CFF059}"/>
              </a:ext>
            </a:extLst>
          </p:cNvPr>
          <p:cNvSpPr>
            <a:spLocks noGrp="1"/>
          </p:cNvSpPr>
          <p:nvPr>
            <p:ph type="sldNum" sz="quarter" idx="5"/>
          </p:nvPr>
        </p:nvSpPr>
        <p:spPr/>
        <p:txBody>
          <a:bodyPr/>
          <a:lstStyle/>
          <a:p>
            <a:fld id="{F88EEB10-417D-44B1-9FC6-F7596A4CBC31}" type="slidenum">
              <a:rPr lang="en-GB" smtClean="0"/>
              <a:t>12</a:t>
            </a:fld>
            <a:endParaRPr lang="en-GB"/>
          </a:p>
        </p:txBody>
      </p:sp>
    </p:spTree>
    <p:extLst>
      <p:ext uri="{BB962C8B-B14F-4D97-AF65-F5344CB8AC3E}">
        <p14:creationId xmlns:p14="http://schemas.microsoft.com/office/powerpoint/2010/main" val="31389545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Duolingo has a very strong presence in the field of language learning, overtaking Babbel as the most subscribed service of its kind. However, it still faces risk of perception – Duolingo is a fun app which many perceive as a game which has connotations to being a leisure activity rather than one you could learn from. While </a:t>
            </a:r>
            <a:r>
              <a:rPr lang="en-GB" dirty="0" err="1"/>
              <a:t>duolingo</a:t>
            </a:r>
            <a:r>
              <a:rPr lang="en-GB" dirty="0"/>
              <a:t> is a social thing, many are aware of it is now time to develop its integrity as a learning device while maintaining its joyous perception. </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Overall, the approach will be following along the lines of Mu’s outside-in marketing theory – identifying an opportunity in the market which is the increase in travel and focusing on customer engagement to build a relationship with these customers/market </a:t>
            </a:r>
          </a:p>
          <a:p>
            <a:endParaRPr lang="en-GB" dirty="0"/>
          </a:p>
        </p:txBody>
      </p:sp>
      <p:sp>
        <p:nvSpPr>
          <p:cNvPr id="4" name="Slide Number Placeholder 3"/>
          <p:cNvSpPr>
            <a:spLocks noGrp="1"/>
          </p:cNvSpPr>
          <p:nvPr>
            <p:ph type="sldNum" sz="quarter" idx="5"/>
          </p:nvPr>
        </p:nvSpPr>
        <p:spPr/>
        <p:txBody>
          <a:bodyPr/>
          <a:lstStyle/>
          <a:p>
            <a:fld id="{F88EEB10-417D-44B1-9FC6-F7596A4CBC31}" type="slidenum">
              <a:rPr lang="en-GB" smtClean="0"/>
              <a:t>13</a:t>
            </a:fld>
            <a:endParaRPr lang="en-GB"/>
          </a:p>
        </p:txBody>
      </p:sp>
    </p:spTree>
    <p:extLst>
      <p:ext uri="{BB962C8B-B14F-4D97-AF65-F5344CB8AC3E}">
        <p14:creationId xmlns:p14="http://schemas.microsoft.com/office/powerpoint/2010/main" val="19969604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Justification – With a rise in travel after COVID reaching an all-time high and set to increase beyond before COVID the desire for learning a language alongside people's travels have increased. With a lot of travel abroad being done by families, Duolingo provides entertainment in the build-up for the travel.</a:t>
            </a:r>
          </a:p>
          <a:p>
            <a:endParaRPr lang="en-GB" dirty="0"/>
          </a:p>
          <a:p>
            <a:r>
              <a:rPr lang="en-GB" dirty="0"/>
              <a:t>How does this resonate? – This family orientated approach will create a sense of ‘togetherness’ between family members and hopefully increased bonds due to the fun competitive nature of </a:t>
            </a:r>
            <a:r>
              <a:rPr lang="en-GB" dirty="0" err="1"/>
              <a:t>Duolingos</a:t>
            </a:r>
            <a:r>
              <a:rPr lang="en-GB" dirty="0"/>
              <a:t> gamified learning approach – this family fun will create joy which audiences will link to their time together with Duolingo, creating and enhancing loyalty towards the brand.</a:t>
            </a:r>
          </a:p>
        </p:txBody>
      </p:sp>
      <p:sp>
        <p:nvSpPr>
          <p:cNvPr id="4" name="Slide Number Placeholder 3"/>
          <p:cNvSpPr>
            <a:spLocks noGrp="1"/>
          </p:cNvSpPr>
          <p:nvPr>
            <p:ph type="sldNum" sz="quarter" idx="5"/>
          </p:nvPr>
        </p:nvSpPr>
        <p:spPr/>
        <p:txBody>
          <a:bodyPr/>
          <a:lstStyle/>
          <a:p>
            <a:fld id="{F88EEB10-417D-44B1-9FC6-F7596A4CBC31}" type="slidenum">
              <a:rPr lang="en-GB" smtClean="0"/>
              <a:t>14</a:t>
            </a:fld>
            <a:endParaRPr lang="en-GB"/>
          </a:p>
        </p:txBody>
      </p:sp>
    </p:spTree>
    <p:extLst>
      <p:ext uri="{BB962C8B-B14F-4D97-AF65-F5344CB8AC3E}">
        <p14:creationId xmlns:p14="http://schemas.microsoft.com/office/powerpoint/2010/main" val="33902212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88EEB10-417D-44B1-9FC6-F7596A4CBC31}" type="slidenum">
              <a:rPr lang="en-GB" smtClean="0"/>
              <a:t>15</a:t>
            </a:fld>
            <a:endParaRPr lang="en-GB"/>
          </a:p>
        </p:txBody>
      </p:sp>
    </p:spTree>
    <p:extLst>
      <p:ext uri="{BB962C8B-B14F-4D97-AF65-F5344CB8AC3E}">
        <p14:creationId xmlns:p14="http://schemas.microsoft.com/office/powerpoint/2010/main" val="27147134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While the AIDA framework is rather outdated in the current marketing world with the rise in external factors such as the internet and social media and it being a funnel system which places audiences in stages. Its fundamental core messages are still relevant.</a:t>
            </a:r>
          </a:p>
          <a:p>
            <a:endParaRPr lang="en-GB" dirty="0"/>
          </a:p>
          <a:p>
            <a:r>
              <a:rPr lang="en-GB" dirty="0"/>
              <a:t>Awareness will be raised through various means of paid and owned media which will soon be discussed.</a:t>
            </a:r>
          </a:p>
          <a:p>
            <a:endParaRPr lang="en-GB" dirty="0"/>
          </a:p>
          <a:p>
            <a:r>
              <a:rPr lang="en-GB" dirty="0"/>
              <a:t>Interest will be gained through existing earned media but also through a direct mail campaign and sponsorship of influencers to give credibility to Duolingo.</a:t>
            </a:r>
          </a:p>
          <a:p>
            <a:endParaRPr lang="en-GB" dirty="0"/>
          </a:p>
          <a:p>
            <a:r>
              <a:rPr lang="en-GB" dirty="0"/>
              <a:t>Desire can come from multiple sources such as replying to messages and interreacting with customers creating an emotional bond, one that is personal but also from the joy and excitement our resonating message provides, creating that early holiday buzz.</a:t>
            </a:r>
          </a:p>
          <a:p>
            <a:endParaRPr lang="en-GB" dirty="0"/>
          </a:p>
          <a:p>
            <a:r>
              <a:rPr lang="en-GB" dirty="0"/>
              <a:t>Action will take the form of clear CTAs such as links to the app store and to the website as well as reinforcement of the Duolingo mascot, the green owl. This repetitive nature of the green owl should create an association with Duolingo.</a:t>
            </a:r>
          </a:p>
          <a:p>
            <a:endParaRPr lang="en-GB" dirty="0"/>
          </a:p>
          <a:p>
            <a:r>
              <a:rPr lang="en-GB" dirty="0"/>
              <a:t>Other frameworks were considered such as the composite blend, however on such a large scale it was not very fitting as it is more productive for more individual and independent media.</a:t>
            </a:r>
          </a:p>
        </p:txBody>
      </p:sp>
      <p:sp>
        <p:nvSpPr>
          <p:cNvPr id="4" name="Slide Number Placeholder 3"/>
          <p:cNvSpPr>
            <a:spLocks noGrp="1"/>
          </p:cNvSpPr>
          <p:nvPr>
            <p:ph type="sldNum" sz="quarter" idx="5"/>
          </p:nvPr>
        </p:nvSpPr>
        <p:spPr/>
        <p:txBody>
          <a:bodyPr/>
          <a:lstStyle/>
          <a:p>
            <a:fld id="{F88EEB10-417D-44B1-9FC6-F7596A4CBC31}" type="slidenum">
              <a:rPr lang="en-GB" smtClean="0"/>
              <a:t>16</a:t>
            </a:fld>
            <a:endParaRPr lang="en-GB"/>
          </a:p>
        </p:txBody>
      </p:sp>
    </p:spTree>
    <p:extLst>
      <p:ext uri="{BB962C8B-B14F-4D97-AF65-F5344CB8AC3E}">
        <p14:creationId xmlns:p14="http://schemas.microsoft.com/office/powerpoint/2010/main" val="33002185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target audience of 35-54 are one of the biggest users of social media and according to Ofcom, some of the best users of the internet. Utilising </a:t>
            </a:r>
            <a:r>
              <a:rPr lang="en-GB" dirty="0" err="1"/>
              <a:t>Duolingos</a:t>
            </a:r>
            <a:r>
              <a:rPr lang="en-GB" dirty="0"/>
              <a:t> big presence on social media, we will opt not to pay for adverts on these platforms, instead focusing on trends and being vocal with our community and comments through content that inspires and amuses audiences as pertaining to the IMPACT theory. We will continue to create blogs/articles with insight into the brand as well as proceeding to develop the user experience which will incorporate our features-based marketing otherwise it is predominantly benefits based. This social media should increase brand awareness and acquisition of the specific target audience.</a:t>
            </a:r>
          </a:p>
          <a:p>
            <a:endParaRPr lang="en-GB" dirty="0"/>
          </a:p>
          <a:p>
            <a:r>
              <a:rPr lang="en-GB" dirty="0"/>
              <a:t>We will, however, invest money into YouTube adverts as well as sponsor influencers in the community of travel/family videos, to invoke a desire that the customer also yearns for the family fun of travelling and provide a trustworthy source that Duolingo is a successful service for learning a language – this should result in good PR for Duolingo.</a:t>
            </a:r>
          </a:p>
          <a:p>
            <a:endParaRPr lang="en-GB" dirty="0"/>
          </a:p>
          <a:p>
            <a:r>
              <a:rPr lang="en-GB" dirty="0"/>
              <a:t>Additionally, TV adverts will be utilised due to it being the biggest form of media the target audience consumes, followed by YouTube. These adverts will play, after the traditional hours of work and be focused on TV channels such as ITV. With the recent decline in children watching live TV the adverts will be for more adult engaging channels allowing the advert to be more impactful and story-driven for audiences. </a:t>
            </a:r>
          </a:p>
          <a:p>
            <a:endParaRPr lang="en-GB" dirty="0"/>
          </a:p>
          <a:p>
            <a:r>
              <a:rPr lang="en-GB" dirty="0"/>
              <a:t>Alongside the digital media, </a:t>
            </a:r>
            <a:r>
              <a:rPr lang="en-GB" dirty="0" err="1"/>
              <a:t>duolingo</a:t>
            </a:r>
            <a:r>
              <a:rPr lang="en-GB" dirty="0"/>
              <a:t> will invest in physical media such as post to communities with families who are likely to travel, perhaps on the post offering a temporary free family subscription when typing in a specific code. Additionally,  ambient media will be utilised across transport devices such as buses and trains aimed at people who are working and approaching holidays who will see these adverts and can find a way of accessing their ‘holiday buzz’ a little earlier than they think.</a:t>
            </a:r>
          </a:p>
          <a:p>
            <a:endParaRPr lang="en-GB" dirty="0"/>
          </a:p>
          <a:p>
            <a:r>
              <a:rPr lang="en-GB" dirty="0"/>
              <a:t>Finally, these should converge into Earned media, with word of mouth potentially being the biggest as parents talk and share their holidays across social media and how Duolingo was great for a fun activity for a build-up to family travels but also benefited them on their journeys – Duolingo will push audiences to accompany their posts with hashtags specific to the brand and campaign to which Duolingo will reply. </a:t>
            </a:r>
          </a:p>
          <a:p>
            <a:endParaRPr lang="en-GB" dirty="0"/>
          </a:p>
          <a:p>
            <a:r>
              <a:rPr lang="en-GB" dirty="0"/>
              <a:t>Additionally, with Duolingo appearing on trends, customers will potentially talk about the ‘funny bird’ that keeps appearing on their feed as well as responding to their messages.</a:t>
            </a:r>
          </a:p>
          <a:p>
            <a:endParaRPr lang="en-GB" dirty="0"/>
          </a:p>
        </p:txBody>
      </p:sp>
      <p:sp>
        <p:nvSpPr>
          <p:cNvPr id="4" name="Slide Number Placeholder 3"/>
          <p:cNvSpPr>
            <a:spLocks noGrp="1"/>
          </p:cNvSpPr>
          <p:nvPr>
            <p:ph type="sldNum" sz="quarter" idx="5"/>
          </p:nvPr>
        </p:nvSpPr>
        <p:spPr/>
        <p:txBody>
          <a:bodyPr/>
          <a:lstStyle/>
          <a:p>
            <a:fld id="{F88EEB10-417D-44B1-9FC6-F7596A4CBC31}" type="slidenum">
              <a:rPr lang="en-GB" smtClean="0"/>
              <a:t>17</a:t>
            </a:fld>
            <a:endParaRPr lang="en-GB"/>
          </a:p>
        </p:txBody>
      </p:sp>
    </p:spTree>
    <p:extLst>
      <p:ext uri="{BB962C8B-B14F-4D97-AF65-F5344CB8AC3E}">
        <p14:creationId xmlns:p14="http://schemas.microsoft.com/office/powerpoint/2010/main" val="33208750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Social media insights can be found on all business accounts breaking down the data of a requested time period. This will enable us to see the increase of audience but more specifically a better demographic breakdown of our audience.</a:t>
            </a:r>
          </a:p>
          <a:p>
            <a:endParaRPr lang="en-GB" dirty="0"/>
          </a:p>
          <a:p>
            <a:r>
              <a:rPr lang="en-GB" dirty="0"/>
              <a:t>A majority of the insights will be collated on google dashboards which can effectively breakdown where audiences are coming from. Included on google dashboards and analytics are psychographic, habits and geographic information of our audiences.</a:t>
            </a:r>
          </a:p>
          <a:p>
            <a:endParaRPr lang="en-GB" dirty="0"/>
          </a:p>
          <a:p>
            <a:r>
              <a:rPr lang="en-GB" dirty="0"/>
              <a:t>Additionally, app downloads can be tracked and customers creating profiles will show insights in the age range and reason for download. Following this, we will be able to see the subscription breakdown which will hopefully see an increase in family subscriptions. </a:t>
            </a:r>
          </a:p>
          <a:p>
            <a:endParaRPr lang="en-GB" dirty="0"/>
          </a:p>
          <a:p>
            <a:r>
              <a:rPr lang="en-GB" dirty="0"/>
              <a:t>Finally, we can see the earned media results through searches online as well as social discussions of the brand across social media. This will be easily located through either searching </a:t>
            </a:r>
            <a:r>
              <a:rPr lang="en-GB" dirty="0" err="1"/>
              <a:t>duolingo</a:t>
            </a:r>
            <a:r>
              <a:rPr lang="en-GB" dirty="0"/>
              <a:t> or a pushed hashtag in the campaign. This will showcase brand equity and how the product is perceived by consumers, enabling us to see if the credibility of the product has increased.</a:t>
            </a:r>
          </a:p>
        </p:txBody>
      </p:sp>
      <p:sp>
        <p:nvSpPr>
          <p:cNvPr id="4" name="Slide Number Placeholder 3"/>
          <p:cNvSpPr>
            <a:spLocks noGrp="1"/>
          </p:cNvSpPr>
          <p:nvPr>
            <p:ph type="sldNum" sz="quarter" idx="5"/>
          </p:nvPr>
        </p:nvSpPr>
        <p:spPr/>
        <p:txBody>
          <a:bodyPr/>
          <a:lstStyle/>
          <a:p>
            <a:fld id="{F88EEB10-417D-44B1-9FC6-F7596A4CBC31}" type="slidenum">
              <a:rPr lang="en-GB" smtClean="0"/>
              <a:t>18</a:t>
            </a:fld>
            <a:endParaRPr lang="en-GB"/>
          </a:p>
        </p:txBody>
      </p:sp>
    </p:spTree>
    <p:extLst>
      <p:ext uri="{BB962C8B-B14F-4D97-AF65-F5344CB8AC3E}">
        <p14:creationId xmlns:p14="http://schemas.microsoft.com/office/powerpoint/2010/main" val="3170977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532AE-83DD-8749-AFA3-740DF147CA8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CF94A84-A8FF-3649-99C3-9ED9440CBD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9A689F-F178-6B45-B420-6CCB6691E06A}"/>
              </a:ext>
            </a:extLst>
          </p:cNvPr>
          <p:cNvSpPr>
            <a:spLocks noGrp="1"/>
          </p:cNvSpPr>
          <p:nvPr>
            <p:ph type="dt" sz="half" idx="10"/>
          </p:nvPr>
        </p:nvSpPr>
        <p:spPr/>
        <p:txBody>
          <a:bodyPr/>
          <a:lstStyle/>
          <a:p>
            <a:fld id="{B25E7FF1-BE55-1F4B-AA1C-6F05BFB87FC6}" type="datetimeFigureOut">
              <a:rPr lang="en-US" smtClean="0"/>
              <a:t>12/10/2024</a:t>
            </a:fld>
            <a:endParaRPr lang="en-US"/>
          </a:p>
        </p:txBody>
      </p:sp>
      <p:sp>
        <p:nvSpPr>
          <p:cNvPr id="5" name="Footer Placeholder 4">
            <a:extLst>
              <a:ext uri="{FF2B5EF4-FFF2-40B4-BE49-F238E27FC236}">
                <a16:creationId xmlns:a16="http://schemas.microsoft.com/office/drawing/2014/main" id="{D104542B-A8F4-4947-9BB6-36C53F9D9D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9672AE-CA1F-D243-A3F4-D8ECBD30EB02}"/>
              </a:ext>
            </a:extLst>
          </p:cNvPr>
          <p:cNvSpPr>
            <a:spLocks noGrp="1"/>
          </p:cNvSpPr>
          <p:nvPr>
            <p:ph type="sldNum" sz="quarter" idx="12"/>
          </p:nvPr>
        </p:nvSpPr>
        <p:spPr/>
        <p:txBody>
          <a:bodyPr/>
          <a:lstStyle/>
          <a:p>
            <a:fld id="{842799B8-CA66-894B-B0D1-573A9401DBE4}" type="slidenum">
              <a:rPr lang="en-US" smtClean="0"/>
              <a:t>‹#›</a:t>
            </a:fld>
            <a:endParaRPr lang="en-US"/>
          </a:p>
        </p:txBody>
      </p:sp>
    </p:spTree>
    <p:extLst>
      <p:ext uri="{BB962C8B-B14F-4D97-AF65-F5344CB8AC3E}">
        <p14:creationId xmlns:p14="http://schemas.microsoft.com/office/powerpoint/2010/main" val="376550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01AC5-8476-C04E-82D0-4AEE8D9112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E34B27-1FA3-9D4B-965C-CB3608555263}"/>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91BC07-A856-5D45-8C7A-1EDE747A6D55}"/>
              </a:ext>
            </a:extLst>
          </p:cNvPr>
          <p:cNvSpPr>
            <a:spLocks noGrp="1"/>
          </p:cNvSpPr>
          <p:nvPr>
            <p:ph type="dt" sz="half" idx="10"/>
          </p:nvPr>
        </p:nvSpPr>
        <p:spPr/>
        <p:txBody>
          <a:bodyPr/>
          <a:lstStyle/>
          <a:p>
            <a:fld id="{B25E7FF1-BE55-1F4B-AA1C-6F05BFB87FC6}" type="datetimeFigureOut">
              <a:rPr lang="en-US" smtClean="0"/>
              <a:t>12/10/2024</a:t>
            </a:fld>
            <a:endParaRPr lang="en-US"/>
          </a:p>
        </p:txBody>
      </p:sp>
      <p:sp>
        <p:nvSpPr>
          <p:cNvPr id="5" name="Footer Placeholder 4">
            <a:extLst>
              <a:ext uri="{FF2B5EF4-FFF2-40B4-BE49-F238E27FC236}">
                <a16:creationId xmlns:a16="http://schemas.microsoft.com/office/drawing/2014/main" id="{5170A4A3-8287-1C44-BA97-CC2C9FFF88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DD7B56-0394-D949-B702-9630C4BF5F84}"/>
              </a:ext>
            </a:extLst>
          </p:cNvPr>
          <p:cNvSpPr>
            <a:spLocks noGrp="1"/>
          </p:cNvSpPr>
          <p:nvPr>
            <p:ph type="sldNum" sz="quarter" idx="12"/>
          </p:nvPr>
        </p:nvSpPr>
        <p:spPr/>
        <p:txBody>
          <a:bodyPr/>
          <a:lstStyle/>
          <a:p>
            <a:fld id="{842799B8-CA66-894B-B0D1-573A9401DBE4}" type="slidenum">
              <a:rPr lang="en-US" smtClean="0"/>
              <a:t>‹#›</a:t>
            </a:fld>
            <a:endParaRPr lang="en-US"/>
          </a:p>
        </p:txBody>
      </p:sp>
    </p:spTree>
    <p:extLst>
      <p:ext uri="{BB962C8B-B14F-4D97-AF65-F5344CB8AC3E}">
        <p14:creationId xmlns:p14="http://schemas.microsoft.com/office/powerpoint/2010/main" val="463858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192CC-7B08-2E44-A75F-84952C11239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F3BCF5-F009-0A4C-9145-58D1B0538E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F1285A2B-51DA-9240-98D6-74C91692BCE2}"/>
              </a:ext>
            </a:extLst>
          </p:cNvPr>
          <p:cNvSpPr>
            <a:spLocks noGrp="1"/>
          </p:cNvSpPr>
          <p:nvPr>
            <p:ph type="dt" sz="half" idx="10"/>
          </p:nvPr>
        </p:nvSpPr>
        <p:spPr/>
        <p:txBody>
          <a:bodyPr/>
          <a:lstStyle/>
          <a:p>
            <a:fld id="{B25E7FF1-BE55-1F4B-AA1C-6F05BFB87FC6}" type="datetimeFigureOut">
              <a:rPr lang="en-US" smtClean="0"/>
              <a:t>12/10/2024</a:t>
            </a:fld>
            <a:endParaRPr lang="en-US"/>
          </a:p>
        </p:txBody>
      </p:sp>
      <p:sp>
        <p:nvSpPr>
          <p:cNvPr id="5" name="Footer Placeholder 4">
            <a:extLst>
              <a:ext uri="{FF2B5EF4-FFF2-40B4-BE49-F238E27FC236}">
                <a16:creationId xmlns:a16="http://schemas.microsoft.com/office/drawing/2014/main" id="{7C3D083A-BF13-DE4F-AEAF-903AAA487A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979DAB-5A4B-424B-A668-C687B9DF72BA}"/>
              </a:ext>
            </a:extLst>
          </p:cNvPr>
          <p:cNvSpPr>
            <a:spLocks noGrp="1"/>
          </p:cNvSpPr>
          <p:nvPr>
            <p:ph type="sldNum" sz="quarter" idx="12"/>
          </p:nvPr>
        </p:nvSpPr>
        <p:spPr/>
        <p:txBody>
          <a:bodyPr/>
          <a:lstStyle/>
          <a:p>
            <a:fld id="{842799B8-CA66-894B-B0D1-573A9401DBE4}" type="slidenum">
              <a:rPr lang="en-US" smtClean="0"/>
              <a:t>‹#›</a:t>
            </a:fld>
            <a:endParaRPr lang="en-US"/>
          </a:p>
        </p:txBody>
      </p:sp>
    </p:spTree>
    <p:extLst>
      <p:ext uri="{BB962C8B-B14F-4D97-AF65-F5344CB8AC3E}">
        <p14:creationId xmlns:p14="http://schemas.microsoft.com/office/powerpoint/2010/main" val="1984298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EA58E-00B3-AF41-9361-B8ECE8890F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400EEF-B102-E442-93CF-802E90C0962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B5D22C-9238-FB47-B55D-0ECECE9ACB9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72113AE-8023-8E42-8806-BCF6CBE6F1E8}"/>
              </a:ext>
            </a:extLst>
          </p:cNvPr>
          <p:cNvSpPr>
            <a:spLocks noGrp="1"/>
          </p:cNvSpPr>
          <p:nvPr>
            <p:ph type="dt" sz="half" idx="10"/>
          </p:nvPr>
        </p:nvSpPr>
        <p:spPr/>
        <p:txBody>
          <a:bodyPr/>
          <a:lstStyle/>
          <a:p>
            <a:fld id="{B25E7FF1-BE55-1F4B-AA1C-6F05BFB87FC6}" type="datetimeFigureOut">
              <a:rPr lang="en-US" smtClean="0"/>
              <a:t>12/10/2024</a:t>
            </a:fld>
            <a:endParaRPr lang="en-US"/>
          </a:p>
        </p:txBody>
      </p:sp>
      <p:sp>
        <p:nvSpPr>
          <p:cNvPr id="6" name="Footer Placeholder 5">
            <a:extLst>
              <a:ext uri="{FF2B5EF4-FFF2-40B4-BE49-F238E27FC236}">
                <a16:creationId xmlns:a16="http://schemas.microsoft.com/office/drawing/2014/main" id="{1B332177-E5D8-D54B-A509-63C5DA00E7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1EE009-7FBC-304B-8740-CC0DFD05D4F6}"/>
              </a:ext>
            </a:extLst>
          </p:cNvPr>
          <p:cNvSpPr>
            <a:spLocks noGrp="1"/>
          </p:cNvSpPr>
          <p:nvPr>
            <p:ph type="sldNum" sz="quarter" idx="12"/>
          </p:nvPr>
        </p:nvSpPr>
        <p:spPr/>
        <p:txBody>
          <a:bodyPr/>
          <a:lstStyle/>
          <a:p>
            <a:fld id="{842799B8-CA66-894B-B0D1-573A9401DBE4}" type="slidenum">
              <a:rPr lang="en-US" smtClean="0"/>
              <a:t>‹#›</a:t>
            </a:fld>
            <a:endParaRPr lang="en-US"/>
          </a:p>
        </p:txBody>
      </p:sp>
    </p:spTree>
    <p:extLst>
      <p:ext uri="{BB962C8B-B14F-4D97-AF65-F5344CB8AC3E}">
        <p14:creationId xmlns:p14="http://schemas.microsoft.com/office/powerpoint/2010/main" val="3205540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95926-964A-F345-A5D2-6A4472811F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F1F40AF-4362-EF4B-A2A6-E2496C5C9A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D7CEC17-2FA9-C24A-BF6D-D17B569DFAF8}"/>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C2BF0CC-772F-9449-8393-1ABD4D63DA6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C437441-0586-B847-8FA8-9321B810046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9CFFEAB-F7AD-A34F-9B06-4EFDC871B51C}"/>
              </a:ext>
            </a:extLst>
          </p:cNvPr>
          <p:cNvSpPr>
            <a:spLocks noGrp="1"/>
          </p:cNvSpPr>
          <p:nvPr>
            <p:ph type="dt" sz="half" idx="10"/>
          </p:nvPr>
        </p:nvSpPr>
        <p:spPr/>
        <p:txBody>
          <a:bodyPr/>
          <a:lstStyle/>
          <a:p>
            <a:fld id="{B25E7FF1-BE55-1F4B-AA1C-6F05BFB87FC6}" type="datetimeFigureOut">
              <a:rPr lang="en-US" smtClean="0"/>
              <a:t>12/10/2024</a:t>
            </a:fld>
            <a:endParaRPr lang="en-US"/>
          </a:p>
        </p:txBody>
      </p:sp>
      <p:sp>
        <p:nvSpPr>
          <p:cNvPr id="8" name="Footer Placeholder 7">
            <a:extLst>
              <a:ext uri="{FF2B5EF4-FFF2-40B4-BE49-F238E27FC236}">
                <a16:creationId xmlns:a16="http://schemas.microsoft.com/office/drawing/2014/main" id="{70345573-D573-9547-9370-1D6B3B454A4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05A187-A4BA-604A-A452-5E2AC990EF43}"/>
              </a:ext>
            </a:extLst>
          </p:cNvPr>
          <p:cNvSpPr>
            <a:spLocks noGrp="1"/>
          </p:cNvSpPr>
          <p:nvPr>
            <p:ph type="sldNum" sz="quarter" idx="12"/>
          </p:nvPr>
        </p:nvSpPr>
        <p:spPr/>
        <p:txBody>
          <a:bodyPr/>
          <a:lstStyle/>
          <a:p>
            <a:fld id="{842799B8-CA66-894B-B0D1-573A9401DBE4}" type="slidenum">
              <a:rPr lang="en-US" smtClean="0"/>
              <a:t>‹#›</a:t>
            </a:fld>
            <a:endParaRPr lang="en-US"/>
          </a:p>
        </p:txBody>
      </p:sp>
    </p:spTree>
    <p:extLst>
      <p:ext uri="{BB962C8B-B14F-4D97-AF65-F5344CB8AC3E}">
        <p14:creationId xmlns:p14="http://schemas.microsoft.com/office/powerpoint/2010/main" val="394376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1B485-FE37-4949-A76D-2B8311D77E3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A9D7BA3-605C-0749-97E5-97313C08E9F8}"/>
              </a:ext>
            </a:extLst>
          </p:cNvPr>
          <p:cNvSpPr>
            <a:spLocks noGrp="1"/>
          </p:cNvSpPr>
          <p:nvPr>
            <p:ph type="dt" sz="half" idx="10"/>
          </p:nvPr>
        </p:nvSpPr>
        <p:spPr/>
        <p:txBody>
          <a:bodyPr/>
          <a:lstStyle/>
          <a:p>
            <a:fld id="{B25E7FF1-BE55-1F4B-AA1C-6F05BFB87FC6}" type="datetimeFigureOut">
              <a:rPr lang="en-US" smtClean="0"/>
              <a:t>12/10/2024</a:t>
            </a:fld>
            <a:endParaRPr lang="en-US"/>
          </a:p>
        </p:txBody>
      </p:sp>
      <p:sp>
        <p:nvSpPr>
          <p:cNvPr id="4" name="Footer Placeholder 3">
            <a:extLst>
              <a:ext uri="{FF2B5EF4-FFF2-40B4-BE49-F238E27FC236}">
                <a16:creationId xmlns:a16="http://schemas.microsoft.com/office/drawing/2014/main" id="{B20FD60F-6330-4244-ABCF-D1D929D1BB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E61C5A-0C00-8744-B9E2-C3FFC9DF4C23}"/>
              </a:ext>
            </a:extLst>
          </p:cNvPr>
          <p:cNvSpPr>
            <a:spLocks noGrp="1"/>
          </p:cNvSpPr>
          <p:nvPr>
            <p:ph type="sldNum" sz="quarter" idx="12"/>
          </p:nvPr>
        </p:nvSpPr>
        <p:spPr/>
        <p:txBody>
          <a:bodyPr/>
          <a:lstStyle/>
          <a:p>
            <a:fld id="{842799B8-CA66-894B-B0D1-573A9401DBE4}" type="slidenum">
              <a:rPr lang="en-US" smtClean="0"/>
              <a:t>‹#›</a:t>
            </a:fld>
            <a:endParaRPr lang="en-US"/>
          </a:p>
        </p:txBody>
      </p:sp>
    </p:spTree>
    <p:extLst>
      <p:ext uri="{BB962C8B-B14F-4D97-AF65-F5344CB8AC3E}">
        <p14:creationId xmlns:p14="http://schemas.microsoft.com/office/powerpoint/2010/main" val="2661215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21CFA3-49AC-1F40-B63F-E21B41CAAC45}"/>
              </a:ext>
            </a:extLst>
          </p:cNvPr>
          <p:cNvSpPr>
            <a:spLocks noGrp="1"/>
          </p:cNvSpPr>
          <p:nvPr>
            <p:ph type="dt" sz="half" idx="10"/>
          </p:nvPr>
        </p:nvSpPr>
        <p:spPr/>
        <p:txBody>
          <a:bodyPr/>
          <a:lstStyle/>
          <a:p>
            <a:fld id="{B25E7FF1-BE55-1F4B-AA1C-6F05BFB87FC6}" type="datetimeFigureOut">
              <a:rPr lang="en-US" smtClean="0"/>
              <a:t>12/10/2024</a:t>
            </a:fld>
            <a:endParaRPr lang="en-US"/>
          </a:p>
        </p:txBody>
      </p:sp>
      <p:sp>
        <p:nvSpPr>
          <p:cNvPr id="3" name="Footer Placeholder 2">
            <a:extLst>
              <a:ext uri="{FF2B5EF4-FFF2-40B4-BE49-F238E27FC236}">
                <a16:creationId xmlns:a16="http://schemas.microsoft.com/office/drawing/2014/main" id="{BDBF1EBA-6CE9-EF42-AA7B-16BC6A6A95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20E3FA-FF04-8242-83EF-55C24281E1C3}"/>
              </a:ext>
            </a:extLst>
          </p:cNvPr>
          <p:cNvSpPr>
            <a:spLocks noGrp="1"/>
          </p:cNvSpPr>
          <p:nvPr>
            <p:ph type="sldNum" sz="quarter" idx="12"/>
          </p:nvPr>
        </p:nvSpPr>
        <p:spPr/>
        <p:txBody>
          <a:bodyPr/>
          <a:lstStyle/>
          <a:p>
            <a:fld id="{842799B8-CA66-894B-B0D1-573A9401DBE4}" type="slidenum">
              <a:rPr lang="en-US" smtClean="0"/>
              <a:t>‹#›</a:t>
            </a:fld>
            <a:endParaRPr lang="en-US"/>
          </a:p>
        </p:txBody>
      </p:sp>
    </p:spTree>
    <p:extLst>
      <p:ext uri="{BB962C8B-B14F-4D97-AF65-F5344CB8AC3E}">
        <p14:creationId xmlns:p14="http://schemas.microsoft.com/office/powerpoint/2010/main" val="1795875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7D25B7-CCBC-944D-B26D-7F38DF8519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F4BA408-6420-614E-8F57-1E9B98159B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077B165-E3CE-DA43-893A-F496B4AC62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81C29398-A39A-DE47-9909-B36D96D28B3C}"/>
              </a:ext>
            </a:extLst>
          </p:cNvPr>
          <p:cNvSpPr>
            <a:spLocks noGrp="1"/>
          </p:cNvSpPr>
          <p:nvPr>
            <p:ph type="dt" sz="half" idx="10"/>
          </p:nvPr>
        </p:nvSpPr>
        <p:spPr/>
        <p:txBody>
          <a:bodyPr/>
          <a:lstStyle/>
          <a:p>
            <a:fld id="{B25E7FF1-BE55-1F4B-AA1C-6F05BFB87FC6}" type="datetimeFigureOut">
              <a:rPr lang="en-US" smtClean="0"/>
              <a:t>12/10/2024</a:t>
            </a:fld>
            <a:endParaRPr lang="en-US"/>
          </a:p>
        </p:txBody>
      </p:sp>
      <p:sp>
        <p:nvSpPr>
          <p:cNvPr id="6" name="Footer Placeholder 5">
            <a:extLst>
              <a:ext uri="{FF2B5EF4-FFF2-40B4-BE49-F238E27FC236}">
                <a16:creationId xmlns:a16="http://schemas.microsoft.com/office/drawing/2014/main" id="{AF931CAB-9B3B-1E48-AB82-D7DBFCCF21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9FAE2A-A87F-E14F-8ABE-F01C27D4501F}"/>
              </a:ext>
            </a:extLst>
          </p:cNvPr>
          <p:cNvSpPr>
            <a:spLocks noGrp="1"/>
          </p:cNvSpPr>
          <p:nvPr>
            <p:ph type="sldNum" sz="quarter" idx="12"/>
          </p:nvPr>
        </p:nvSpPr>
        <p:spPr/>
        <p:txBody>
          <a:bodyPr/>
          <a:lstStyle/>
          <a:p>
            <a:fld id="{842799B8-CA66-894B-B0D1-573A9401DBE4}" type="slidenum">
              <a:rPr lang="en-US" smtClean="0"/>
              <a:t>‹#›</a:t>
            </a:fld>
            <a:endParaRPr lang="en-US"/>
          </a:p>
        </p:txBody>
      </p:sp>
    </p:spTree>
    <p:extLst>
      <p:ext uri="{BB962C8B-B14F-4D97-AF65-F5344CB8AC3E}">
        <p14:creationId xmlns:p14="http://schemas.microsoft.com/office/powerpoint/2010/main" val="265017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03BD6-7945-8841-BBB6-8ADFF7C03E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771BB9-BBD8-0E4A-9A6F-174D52F8F0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92190B0-E92D-D046-A675-A31DDCD40F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C281D37-0995-6A4D-9AA0-17BAD3C4E57E}"/>
              </a:ext>
            </a:extLst>
          </p:cNvPr>
          <p:cNvSpPr>
            <a:spLocks noGrp="1"/>
          </p:cNvSpPr>
          <p:nvPr>
            <p:ph type="dt" sz="half" idx="10"/>
          </p:nvPr>
        </p:nvSpPr>
        <p:spPr/>
        <p:txBody>
          <a:bodyPr/>
          <a:lstStyle/>
          <a:p>
            <a:fld id="{B25E7FF1-BE55-1F4B-AA1C-6F05BFB87FC6}" type="datetimeFigureOut">
              <a:rPr lang="en-US" smtClean="0"/>
              <a:t>12/10/2024</a:t>
            </a:fld>
            <a:endParaRPr lang="en-US"/>
          </a:p>
        </p:txBody>
      </p:sp>
      <p:sp>
        <p:nvSpPr>
          <p:cNvPr id="6" name="Footer Placeholder 5">
            <a:extLst>
              <a:ext uri="{FF2B5EF4-FFF2-40B4-BE49-F238E27FC236}">
                <a16:creationId xmlns:a16="http://schemas.microsoft.com/office/drawing/2014/main" id="{ECE23846-6171-D14C-93D7-B3643F1CF3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4A9D9E-162B-3441-857A-8C934EA4DFE3}"/>
              </a:ext>
            </a:extLst>
          </p:cNvPr>
          <p:cNvSpPr>
            <a:spLocks noGrp="1"/>
          </p:cNvSpPr>
          <p:nvPr>
            <p:ph type="sldNum" sz="quarter" idx="12"/>
          </p:nvPr>
        </p:nvSpPr>
        <p:spPr/>
        <p:txBody>
          <a:bodyPr/>
          <a:lstStyle/>
          <a:p>
            <a:fld id="{842799B8-CA66-894B-B0D1-573A9401DBE4}" type="slidenum">
              <a:rPr lang="en-US" smtClean="0"/>
              <a:t>‹#›</a:t>
            </a:fld>
            <a:endParaRPr lang="en-US"/>
          </a:p>
        </p:txBody>
      </p:sp>
    </p:spTree>
    <p:extLst>
      <p:ext uri="{BB962C8B-B14F-4D97-AF65-F5344CB8AC3E}">
        <p14:creationId xmlns:p14="http://schemas.microsoft.com/office/powerpoint/2010/main" val="24357069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12277-846B-B740-AF32-33845C6E42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B2E9E7C-A6E3-274E-9625-09EDCC283AE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4B0F9A-596F-FD46-9EC5-0C0C9B1A58FF}"/>
              </a:ext>
            </a:extLst>
          </p:cNvPr>
          <p:cNvSpPr>
            <a:spLocks noGrp="1"/>
          </p:cNvSpPr>
          <p:nvPr>
            <p:ph type="dt" sz="half" idx="10"/>
          </p:nvPr>
        </p:nvSpPr>
        <p:spPr/>
        <p:txBody>
          <a:bodyPr/>
          <a:lstStyle/>
          <a:p>
            <a:fld id="{B25E7FF1-BE55-1F4B-AA1C-6F05BFB87FC6}" type="datetimeFigureOut">
              <a:rPr lang="en-US" smtClean="0"/>
              <a:t>12/10/2024</a:t>
            </a:fld>
            <a:endParaRPr lang="en-US"/>
          </a:p>
        </p:txBody>
      </p:sp>
      <p:sp>
        <p:nvSpPr>
          <p:cNvPr id="5" name="Footer Placeholder 4">
            <a:extLst>
              <a:ext uri="{FF2B5EF4-FFF2-40B4-BE49-F238E27FC236}">
                <a16:creationId xmlns:a16="http://schemas.microsoft.com/office/drawing/2014/main" id="{D3FD7EE8-D5BF-0646-B988-A1ACC2B9CF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CA8D9C-7E77-9E41-BFD7-216CA57AA3BD}"/>
              </a:ext>
            </a:extLst>
          </p:cNvPr>
          <p:cNvSpPr>
            <a:spLocks noGrp="1"/>
          </p:cNvSpPr>
          <p:nvPr>
            <p:ph type="sldNum" sz="quarter" idx="12"/>
          </p:nvPr>
        </p:nvSpPr>
        <p:spPr/>
        <p:txBody>
          <a:bodyPr/>
          <a:lstStyle/>
          <a:p>
            <a:fld id="{842799B8-CA66-894B-B0D1-573A9401DBE4}" type="slidenum">
              <a:rPr lang="en-US" smtClean="0"/>
              <a:t>‹#›</a:t>
            </a:fld>
            <a:endParaRPr lang="en-US"/>
          </a:p>
        </p:txBody>
      </p:sp>
    </p:spTree>
    <p:extLst>
      <p:ext uri="{BB962C8B-B14F-4D97-AF65-F5344CB8AC3E}">
        <p14:creationId xmlns:p14="http://schemas.microsoft.com/office/powerpoint/2010/main" val="1097889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FF5E617-8A6B-7347-9803-40105EC48A9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5BF1AB-DCFB-C04D-8866-F39C11A52531}"/>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7EF7E8-FF31-D64E-A338-52FAB88CD319}"/>
              </a:ext>
            </a:extLst>
          </p:cNvPr>
          <p:cNvSpPr>
            <a:spLocks noGrp="1"/>
          </p:cNvSpPr>
          <p:nvPr>
            <p:ph type="dt" sz="half" idx="10"/>
          </p:nvPr>
        </p:nvSpPr>
        <p:spPr/>
        <p:txBody>
          <a:bodyPr/>
          <a:lstStyle/>
          <a:p>
            <a:fld id="{B25E7FF1-BE55-1F4B-AA1C-6F05BFB87FC6}" type="datetimeFigureOut">
              <a:rPr lang="en-US" smtClean="0"/>
              <a:t>12/10/2024</a:t>
            </a:fld>
            <a:endParaRPr lang="en-US"/>
          </a:p>
        </p:txBody>
      </p:sp>
      <p:sp>
        <p:nvSpPr>
          <p:cNvPr id="5" name="Footer Placeholder 4">
            <a:extLst>
              <a:ext uri="{FF2B5EF4-FFF2-40B4-BE49-F238E27FC236}">
                <a16:creationId xmlns:a16="http://schemas.microsoft.com/office/drawing/2014/main" id="{991558B8-7E51-3140-867B-4B2413BE2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E4EE28-CD90-704D-99AA-7C675B651291}"/>
              </a:ext>
            </a:extLst>
          </p:cNvPr>
          <p:cNvSpPr>
            <a:spLocks noGrp="1"/>
          </p:cNvSpPr>
          <p:nvPr>
            <p:ph type="sldNum" sz="quarter" idx="12"/>
          </p:nvPr>
        </p:nvSpPr>
        <p:spPr/>
        <p:txBody>
          <a:bodyPr/>
          <a:lstStyle/>
          <a:p>
            <a:fld id="{842799B8-CA66-894B-B0D1-573A9401DBE4}" type="slidenum">
              <a:rPr lang="en-US" smtClean="0"/>
              <a:t>‹#›</a:t>
            </a:fld>
            <a:endParaRPr lang="en-US"/>
          </a:p>
        </p:txBody>
      </p:sp>
    </p:spTree>
    <p:extLst>
      <p:ext uri="{BB962C8B-B14F-4D97-AF65-F5344CB8AC3E}">
        <p14:creationId xmlns:p14="http://schemas.microsoft.com/office/powerpoint/2010/main" val="2472254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4C65382-8866-EA47-91BD-307B95891F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D1C4C59-0A29-6D49-84BF-EDAB0B6618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E909CD-3125-FD42-9592-EFF5B77786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5E7FF1-BE55-1F4B-AA1C-6F05BFB87FC6}" type="datetimeFigureOut">
              <a:rPr lang="en-US" smtClean="0"/>
              <a:t>12/10/2024</a:t>
            </a:fld>
            <a:endParaRPr lang="en-US"/>
          </a:p>
        </p:txBody>
      </p:sp>
      <p:sp>
        <p:nvSpPr>
          <p:cNvPr id="5" name="Footer Placeholder 4">
            <a:extLst>
              <a:ext uri="{FF2B5EF4-FFF2-40B4-BE49-F238E27FC236}">
                <a16:creationId xmlns:a16="http://schemas.microsoft.com/office/drawing/2014/main" id="{4DC3D949-F122-1748-9B70-BA8B62414B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01115C9-CEC2-5E47-A2A7-DA3D7B448B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2799B8-CA66-894B-B0D1-573A9401DBE4}" type="slidenum">
              <a:rPr lang="en-US" smtClean="0"/>
              <a:t>‹#›</a:t>
            </a:fld>
            <a:endParaRPr lang="en-US"/>
          </a:p>
        </p:txBody>
      </p:sp>
    </p:spTree>
    <p:extLst>
      <p:ext uri="{BB962C8B-B14F-4D97-AF65-F5344CB8AC3E}">
        <p14:creationId xmlns:p14="http://schemas.microsoft.com/office/powerpoint/2010/main" val="2393380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microsoft.com/office/2007/relationships/hdphoto" Target="../media/hdphoto2.wdp"/></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microsoft.com/office/2007/relationships/hdphoto" Target="../media/hdphoto3.wdp"/></Relationships>
</file>

<file path=ppt/slides/_rels/slide19.xml.rels><?xml version="1.0" encoding="UTF-8" standalone="yes"?>
<Relationships xmlns="http://schemas.openxmlformats.org/package/2006/relationships"><Relationship Id="rId8" Type="http://schemas.openxmlformats.org/officeDocument/2006/relationships/hyperlink" Target="https://ca.indeed.com/career-advice/career-development/aida-pros-and-cons" TargetMode="External"/><Relationship Id="rId13" Type="http://schemas.openxmlformats.org/officeDocument/2006/relationships/hyperlink" Target="https://www.sender.net/blog/target-audience/" TargetMode="External"/><Relationship Id="rId18" Type="http://schemas.openxmlformats.org/officeDocument/2006/relationships/hyperlink" Target="https://blog.duolingo.com/duolingos-values-a-letter-from-the-ceo/" TargetMode="External"/><Relationship Id="rId3" Type="http://schemas.openxmlformats.org/officeDocument/2006/relationships/hyperlink" Target="https://blog.duolingo.com/2022-duolingo-language-report/" TargetMode="External"/><Relationship Id="rId7" Type="http://schemas.openxmlformats.org/officeDocument/2006/relationships/hyperlink" Target="https://medium.com/@keatonhawker/kellers-brand-equity-model-what-it-is-how-to-use-it-84e42d562299" TargetMode="External"/><Relationship Id="rId12" Type="http://schemas.openxmlformats.org/officeDocument/2006/relationships/hyperlink" Target="https://keyhole.co/blog/duolingo-social-media-strategy/#:~:text=Duolingo%20targeted%20an%20audience%20that,group%20of%2016%20to%2034" TargetMode="External"/><Relationship Id="rId17" Type="http://schemas.openxmlformats.org/officeDocument/2006/relationships/hyperlink" Target="https://www.statista.com/statistics/1401021/uk-social-media-users-by-age/" TargetMode="External"/><Relationship Id="rId2" Type="http://schemas.openxmlformats.org/officeDocument/2006/relationships/hyperlink" Target="https://www.abta.com/sites/default/files/media/document/uploads/ABTA%20Holiday%20Habits%202023-24.pdf" TargetMode="External"/><Relationship Id="rId16" Type="http://schemas.openxmlformats.org/officeDocument/2006/relationships/hyperlink" Target="https://www.similarweb.com/website/duolingo.com/#overview" TargetMode="External"/><Relationship Id="rId1" Type="http://schemas.openxmlformats.org/officeDocument/2006/relationships/slideLayout" Target="../slideLayouts/slideLayout2.xml"/><Relationship Id="rId6" Type="http://schemas.openxmlformats.org/officeDocument/2006/relationships/hyperlink" Target="https://www.smartinsights.com/traffic-building-strategy/offer-and-message-development/aida-model/" TargetMode="External"/><Relationship Id="rId11" Type="http://schemas.openxmlformats.org/officeDocument/2006/relationships/hyperlink" Target="https://www.ofcom.org.uk/siteassets/resources/documents/research-and-data/media-literacy-research/adults/adults-media-use-and-attitudes-2022/adults-media-use-and-attitudes-report-2022.pdf?v=327649" TargetMode="External"/><Relationship Id="rId5" Type="http://schemas.openxmlformats.org/officeDocument/2006/relationships/hyperlink" Target="https://canvasbusinessmodel.com/blogs/mission/duolingo-mission#:~:text=Duolingo%20Mission%20Statement%3A%20To%20make,Inclusivity%2C%20Accessibility%2C%20and%20Impact" TargetMode="External"/><Relationship Id="rId15" Type="http://schemas.openxmlformats.org/officeDocument/2006/relationships/hyperlink" Target="https://usesignhouse.com/blog/duolingo-stats/" TargetMode="External"/><Relationship Id="rId10" Type="http://schemas.openxmlformats.org/officeDocument/2006/relationships/hyperlink" Target="https://www.ofcom.org.uk/siteassets/resources/documents/research-and-data/media-literacy-research/adults/adults-literacy-2017/section-9-newer-narrow-non-users-internet.pdf?v=322533" TargetMode="External"/><Relationship Id="rId4" Type="http://schemas.openxmlformats.org/officeDocument/2006/relationships/hyperlink" Target="https://blog.duolingo.com/2023-duolingo-language-report/" TargetMode="External"/><Relationship Id="rId9" Type="http://schemas.openxmlformats.org/officeDocument/2006/relationships/hyperlink" Target="https://www.simplypsychology.org/maslow.html" TargetMode="External"/><Relationship Id="rId14" Type="http://schemas.openxmlformats.org/officeDocument/2006/relationships/hyperlink" Target="https://uwe.cloud.panopto.eu/Panopto/Pages/Viewer.aspx?id=3115eb44-76bd-4aa5-a91a-b1fb00c131ec&amp;start=783.1043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C7AAB-BF71-7ADD-4488-B20CCCDE7360}"/>
              </a:ext>
            </a:extLst>
          </p:cNvPr>
          <p:cNvSpPr>
            <a:spLocks noGrp="1"/>
          </p:cNvSpPr>
          <p:nvPr>
            <p:ph type="ctrTitle"/>
          </p:nvPr>
        </p:nvSpPr>
        <p:spPr>
          <a:xfrm>
            <a:off x="1487605" y="2617396"/>
            <a:ext cx="3202675" cy="908359"/>
          </a:xfrm>
        </p:spPr>
        <p:txBody>
          <a:bodyPr>
            <a:normAutofit fontScale="90000"/>
          </a:bodyPr>
          <a:lstStyle/>
          <a:p>
            <a:r>
              <a:rPr lang="en-GB" dirty="0"/>
              <a:t>Duolingo</a:t>
            </a:r>
          </a:p>
        </p:txBody>
      </p:sp>
      <p:sp>
        <p:nvSpPr>
          <p:cNvPr id="3" name="Subtitle 2">
            <a:extLst>
              <a:ext uri="{FF2B5EF4-FFF2-40B4-BE49-F238E27FC236}">
                <a16:creationId xmlns:a16="http://schemas.microsoft.com/office/drawing/2014/main" id="{F7909CFD-62A4-3B89-93D5-C74B0A35B2EF}"/>
              </a:ext>
            </a:extLst>
          </p:cNvPr>
          <p:cNvSpPr>
            <a:spLocks noGrp="1"/>
          </p:cNvSpPr>
          <p:nvPr>
            <p:ph type="subTitle" idx="1"/>
          </p:nvPr>
        </p:nvSpPr>
        <p:spPr>
          <a:xfrm>
            <a:off x="802942" y="3525755"/>
            <a:ext cx="4572000" cy="574177"/>
          </a:xfrm>
        </p:spPr>
        <p:txBody>
          <a:bodyPr/>
          <a:lstStyle/>
          <a:p>
            <a:r>
              <a:rPr lang="en-GB" dirty="0"/>
              <a:t>The leading language learning app</a:t>
            </a:r>
          </a:p>
        </p:txBody>
      </p:sp>
      <p:pic>
        <p:nvPicPr>
          <p:cNvPr id="1028" name="Picture 4" descr="Duolingo Owl | Super Smash Bros. Fanon | Fandom">
            <a:extLst>
              <a:ext uri="{FF2B5EF4-FFF2-40B4-BE49-F238E27FC236}">
                <a16:creationId xmlns:a16="http://schemas.microsoft.com/office/drawing/2014/main" id="{3FAA8416-44AC-B588-5EAB-595CC07FFE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22642" y="441076"/>
            <a:ext cx="6169358" cy="6169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7839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56017-9788-2130-6785-424830BC9616}"/>
              </a:ext>
            </a:extLst>
          </p:cNvPr>
          <p:cNvSpPr>
            <a:spLocks noGrp="1"/>
          </p:cNvSpPr>
          <p:nvPr>
            <p:ph type="title"/>
          </p:nvPr>
        </p:nvSpPr>
        <p:spPr/>
        <p:txBody>
          <a:bodyPr/>
          <a:lstStyle/>
          <a:p>
            <a:r>
              <a:rPr lang="en-GB" dirty="0"/>
              <a:t>Overview</a:t>
            </a:r>
          </a:p>
        </p:txBody>
      </p:sp>
      <p:sp>
        <p:nvSpPr>
          <p:cNvPr id="3" name="Content Placeholder 2">
            <a:extLst>
              <a:ext uri="{FF2B5EF4-FFF2-40B4-BE49-F238E27FC236}">
                <a16:creationId xmlns:a16="http://schemas.microsoft.com/office/drawing/2014/main" id="{2A2D1775-C8E0-DB44-33BE-6026491BA15E}"/>
              </a:ext>
            </a:extLst>
          </p:cNvPr>
          <p:cNvSpPr>
            <a:spLocks noGrp="1"/>
          </p:cNvSpPr>
          <p:nvPr>
            <p:ph idx="1"/>
          </p:nvPr>
        </p:nvSpPr>
        <p:spPr/>
        <p:txBody>
          <a:bodyPr>
            <a:normAutofit/>
          </a:bodyPr>
          <a:lstStyle/>
          <a:p>
            <a:r>
              <a:rPr lang="en-GB" dirty="0"/>
              <a:t>The current mission statement/values Duolingo has is - “To make language learning accessible to all”</a:t>
            </a:r>
          </a:p>
          <a:p>
            <a:endParaRPr lang="en-GB" dirty="0"/>
          </a:p>
          <a:p>
            <a:r>
              <a:rPr lang="en-GB" dirty="0"/>
              <a:t>The current CEO of Duolingo states the two best decisions they made as a company was:</a:t>
            </a:r>
          </a:p>
          <a:p>
            <a:pPr lvl="1"/>
            <a:r>
              <a:rPr lang="en-GB" dirty="0"/>
              <a:t>Giving the product away for free</a:t>
            </a:r>
          </a:p>
          <a:p>
            <a:pPr lvl="1"/>
            <a:r>
              <a:rPr lang="en-GB" dirty="0"/>
              <a:t>Making the learning fun through gamification</a:t>
            </a:r>
          </a:p>
          <a:p>
            <a:endParaRPr lang="en-GB" b="1" dirty="0"/>
          </a:p>
          <a:p>
            <a:r>
              <a:rPr lang="en-GB" b="1" dirty="0"/>
              <a:t>Family fun to improve travel experience</a:t>
            </a:r>
          </a:p>
          <a:p>
            <a:endParaRPr lang="en-GB" dirty="0"/>
          </a:p>
        </p:txBody>
      </p:sp>
      <p:pic>
        <p:nvPicPr>
          <p:cNvPr id="3074" name="Picture 2" descr="Pin page">
            <a:extLst>
              <a:ext uri="{FF2B5EF4-FFF2-40B4-BE49-F238E27FC236}">
                <a16:creationId xmlns:a16="http://schemas.microsoft.com/office/drawing/2014/main" id="{EE7F7F05-39B5-448C-127E-FE7D113864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8781"/>
          <a:stretch/>
        </p:blipFill>
        <p:spPr bwMode="auto">
          <a:xfrm>
            <a:off x="8097099" y="3886451"/>
            <a:ext cx="3645721" cy="2971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5536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fade">
                                      <p:cBhvr>
                                        <p:cTn id="7" dur="500"/>
                                        <p:tgtEl>
                                          <p:spTgt spid="3">
                                            <p:txEl>
                                              <p:pRg st="6" end="6"/>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074"/>
                                        </p:tgtEl>
                                        <p:attrNameLst>
                                          <p:attrName>style.visibility</p:attrName>
                                        </p:attrNameLst>
                                      </p:cBhvr>
                                      <p:to>
                                        <p:strVal val="visible"/>
                                      </p:to>
                                    </p:set>
                                    <p:animEffect transition="in" filter="fade">
                                      <p:cBhvr>
                                        <p:cTn id="10"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DBBC9-8AB5-C233-4D13-F39996C6C272}"/>
              </a:ext>
            </a:extLst>
          </p:cNvPr>
          <p:cNvSpPr>
            <a:spLocks noGrp="1"/>
          </p:cNvSpPr>
          <p:nvPr>
            <p:ph type="title"/>
          </p:nvPr>
        </p:nvSpPr>
        <p:spPr/>
        <p:txBody>
          <a:bodyPr/>
          <a:lstStyle/>
          <a:p>
            <a:r>
              <a:rPr lang="en-GB" dirty="0"/>
              <a:t>The STP Process</a:t>
            </a:r>
          </a:p>
        </p:txBody>
      </p:sp>
      <p:sp>
        <p:nvSpPr>
          <p:cNvPr id="3" name="Rectangle 2">
            <a:extLst>
              <a:ext uri="{FF2B5EF4-FFF2-40B4-BE49-F238E27FC236}">
                <a16:creationId xmlns:a16="http://schemas.microsoft.com/office/drawing/2014/main" id="{42E56D6D-CA23-D3FB-B22C-56207A495E0F}"/>
              </a:ext>
            </a:extLst>
          </p:cNvPr>
          <p:cNvSpPr/>
          <p:nvPr/>
        </p:nvSpPr>
        <p:spPr>
          <a:xfrm>
            <a:off x="618744" y="1690688"/>
            <a:ext cx="1917192" cy="820864"/>
          </a:xfrm>
          <a:prstGeom prst="rect">
            <a:avLst/>
          </a:prstGeom>
          <a:solidFill>
            <a:srgbClr val="77C8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Define Market</a:t>
            </a:r>
          </a:p>
        </p:txBody>
      </p:sp>
      <p:sp>
        <p:nvSpPr>
          <p:cNvPr id="4" name="Rectangle 3">
            <a:extLst>
              <a:ext uri="{FF2B5EF4-FFF2-40B4-BE49-F238E27FC236}">
                <a16:creationId xmlns:a16="http://schemas.microsoft.com/office/drawing/2014/main" id="{80F87432-93D1-2ED7-D709-B726F541D2E9}"/>
              </a:ext>
            </a:extLst>
          </p:cNvPr>
          <p:cNvSpPr/>
          <p:nvPr/>
        </p:nvSpPr>
        <p:spPr>
          <a:xfrm>
            <a:off x="1854708" y="2765060"/>
            <a:ext cx="1917192" cy="820864"/>
          </a:xfrm>
          <a:prstGeom prst="rect">
            <a:avLst/>
          </a:prstGeom>
          <a:solidFill>
            <a:srgbClr val="8EE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Segment Market</a:t>
            </a:r>
          </a:p>
        </p:txBody>
      </p:sp>
      <p:sp>
        <p:nvSpPr>
          <p:cNvPr id="5" name="Rectangle 4">
            <a:extLst>
              <a:ext uri="{FF2B5EF4-FFF2-40B4-BE49-F238E27FC236}">
                <a16:creationId xmlns:a16="http://schemas.microsoft.com/office/drawing/2014/main" id="{50DB23C8-04E2-F44D-99DB-001BA11FE4F3}"/>
              </a:ext>
            </a:extLst>
          </p:cNvPr>
          <p:cNvSpPr/>
          <p:nvPr/>
        </p:nvSpPr>
        <p:spPr>
          <a:xfrm>
            <a:off x="3220212" y="3839432"/>
            <a:ext cx="1917192" cy="820864"/>
          </a:xfrm>
          <a:prstGeom prst="rect">
            <a:avLst/>
          </a:prstGeom>
          <a:solidFill>
            <a:srgbClr val="99EE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Target a Segment</a:t>
            </a:r>
          </a:p>
        </p:txBody>
      </p:sp>
      <p:sp>
        <p:nvSpPr>
          <p:cNvPr id="6" name="Rectangle 5">
            <a:extLst>
              <a:ext uri="{FF2B5EF4-FFF2-40B4-BE49-F238E27FC236}">
                <a16:creationId xmlns:a16="http://schemas.microsoft.com/office/drawing/2014/main" id="{1F1A0222-1DFD-73CE-C8E7-458D5AF8F379}"/>
              </a:ext>
            </a:extLst>
          </p:cNvPr>
          <p:cNvSpPr/>
          <p:nvPr/>
        </p:nvSpPr>
        <p:spPr>
          <a:xfrm>
            <a:off x="4735068" y="4897420"/>
            <a:ext cx="1917192" cy="820864"/>
          </a:xfrm>
          <a:prstGeom prst="rect">
            <a:avLst/>
          </a:prstGeom>
          <a:solidFill>
            <a:srgbClr val="99EE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Position</a:t>
            </a:r>
          </a:p>
        </p:txBody>
      </p:sp>
      <p:cxnSp>
        <p:nvCxnSpPr>
          <p:cNvPr id="10" name="Connector: Elbow 9">
            <a:extLst>
              <a:ext uri="{FF2B5EF4-FFF2-40B4-BE49-F238E27FC236}">
                <a16:creationId xmlns:a16="http://schemas.microsoft.com/office/drawing/2014/main" id="{F5FFA4EF-5F10-C884-A339-1681A1EFEAFA}"/>
              </a:ext>
            </a:extLst>
          </p:cNvPr>
          <p:cNvCxnSpPr>
            <a:stCxn id="3" idx="3"/>
            <a:endCxn id="4" idx="0"/>
          </p:cNvCxnSpPr>
          <p:nvPr/>
        </p:nvCxnSpPr>
        <p:spPr>
          <a:xfrm>
            <a:off x="2535936" y="2101120"/>
            <a:ext cx="277368" cy="66394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Connector: Elbow 11">
            <a:extLst>
              <a:ext uri="{FF2B5EF4-FFF2-40B4-BE49-F238E27FC236}">
                <a16:creationId xmlns:a16="http://schemas.microsoft.com/office/drawing/2014/main" id="{357BE388-C26B-904A-637B-A517452BD012}"/>
              </a:ext>
            </a:extLst>
          </p:cNvPr>
          <p:cNvCxnSpPr>
            <a:stCxn id="4" idx="3"/>
            <a:endCxn id="5" idx="0"/>
          </p:cNvCxnSpPr>
          <p:nvPr/>
        </p:nvCxnSpPr>
        <p:spPr>
          <a:xfrm>
            <a:off x="3771900" y="3175492"/>
            <a:ext cx="406908" cy="66394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B997B2E4-4FC9-5AC3-3DE7-731660B2E82A}"/>
              </a:ext>
            </a:extLst>
          </p:cNvPr>
          <p:cNvCxnSpPr>
            <a:stCxn id="5" idx="3"/>
            <a:endCxn id="6" idx="0"/>
          </p:cNvCxnSpPr>
          <p:nvPr/>
        </p:nvCxnSpPr>
        <p:spPr>
          <a:xfrm>
            <a:off x="5137404" y="4249864"/>
            <a:ext cx="556260" cy="647556"/>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896033E4-86B2-1FB5-1FF1-2DBF507396D7}"/>
              </a:ext>
            </a:extLst>
          </p:cNvPr>
          <p:cNvSpPr/>
          <p:nvPr/>
        </p:nvSpPr>
        <p:spPr>
          <a:xfrm>
            <a:off x="8916162" y="1159168"/>
            <a:ext cx="1917192" cy="577264"/>
          </a:xfrm>
          <a:prstGeom prst="rect">
            <a:avLst/>
          </a:prstGeom>
          <a:solidFill>
            <a:srgbClr val="F48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Price</a:t>
            </a:r>
          </a:p>
        </p:txBody>
      </p:sp>
      <p:sp>
        <p:nvSpPr>
          <p:cNvPr id="30" name="Rectangle 29">
            <a:extLst>
              <a:ext uri="{FF2B5EF4-FFF2-40B4-BE49-F238E27FC236}">
                <a16:creationId xmlns:a16="http://schemas.microsoft.com/office/drawing/2014/main" id="{B458C4F1-5D4D-9532-5B5B-38E728DBA4C5}"/>
              </a:ext>
            </a:extLst>
          </p:cNvPr>
          <p:cNvSpPr/>
          <p:nvPr/>
        </p:nvSpPr>
        <p:spPr>
          <a:xfrm>
            <a:off x="8916162" y="196792"/>
            <a:ext cx="1917192" cy="577264"/>
          </a:xfrm>
          <a:prstGeom prst="rect">
            <a:avLst/>
          </a:prstGeom>
          <a:solidFill>
            <a:srgbClr val="F48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Product</a:t>
            </a:r>
          </a:p>
        </p:txBody>
      </p:sp>
      <p:sp>
        <p:nvSpPr>
          <p:cNvPr id="31" name="Rectangle 30">
            <a:extLst>
              <a:ext uri="{FF2B5EF4-FFF2-40B4-BE49-F238E27FC236}">
                <a16:creationId xmlns:a16="http://schemas.microsoft.com/office/drawing/2014/main" id="{E8D7975C-5385-0BAB-EFAA-9D1550D52CEE}"/>
              </a:ext>
            </a:extLst>
          </p:cNvPr>
          <p:cNvSpPr/>
          <p:nvPr/>
        </p:nvSpPr>
        <p:spPr>
          <a:xfrm>
            <a:off x="8910828" y="2129008"/>
            <a:ext cx="1917192" cy="577264"/>
          </a:xfrm>
          <a:prstGeom prst="rect">
            <a:avLst/>
          </a:prstGeom>
          <a:solidFill>
            <a:srgbClr val="F48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Place</a:t>
            </a:r>
          </a:p>
        </p:txBody>
      </p:sp>
      <p:sp>
        <p:nvSpPr>
          <p:cNvPr id="32" name="Rectangle 31">
            <a:extLst>
              <a:ext uri="{FF2B5EF4-FFF2-40B4-BE49-F238E27FC236}">
                <a16:creationId xmlns:a16="http://schemas.microsoft.com/office/drawing/2014/main" id="{9AFA67A1-3EBE-DF25-0CD7-E50C6E58EEE1}"/>
              </a:ext>
            </a:extLst>
          </p:cNvPr>
          <p:cNvSpPr/>
          <p:nvPr/>
        </p:nvSpPr>
        <p:spPr>
          <a:xfrm>
            <a:off x="8910828" y="3095336"/>
            <a:ext cx="1917192" cy="577264"/>
          </a:xfrm>
          <a:prstGeom prst="rect">
            <a:avLst/>
          </a:prstGeom>
          <a:solidFill>
            <a:srgbClr val="F48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Promotion</a:t>
            </a:r>
          </a:p>
        </p:txBody>
      </p:sp>
      <p:sp>
        <p:nvSpPr>
          <p:cNvPr id="33" name="Rectangle 32">
            <a:extLst>
              <a:ext uri="{FF2B5EF4-FFF2-40B4-BE49-F238E27FC236}">
                <a16:creationId xmlns:a16="http://schemas.microsoft.com/office/drawing/2014/main" id="{5E57DC9D-BD00-7827-7264-12FC46B5ABC8}"/>
              </a:ext>
            </a:extLst>
          </p:cNvPr>
          <p:cNvSpPr/>
          <p:nvPr/>
        </p:nvSpPr>
        <p:spPr>
          <a:xfrm>
            <a:off x="8916162" y="4059688"/>
            <a:ext cx="1917192" cy="577264"/>
          </a:xfrm>
          <a:prstGeom prst="rect">
            <a:avLst/>
          </a:prstGeom>
          <a:solidFill>
            <a:srgbClr val="F48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People</a:t>
            </a:r>
          </a:p>
        </p:txBody>
      </p:sp>
      <p:sp>
        <p:nvSpPr>
          <p:cNvPr id="34" name="Rectangle 33">
            <a:extLst>
              <a:ext uri="{FF2B5EF4-FFF2-40B4-BE49-F238E27FC236}">
                <a16:creationId xmlns:a16="http://schemas.microsoft.com/office/drawing/2014/main" id="{B4A4FFAB-D1AE-6030-D4E8-E20E4F07EB66}"/>
              </a:ext>
            </a:extLst>
          </p:cNvPr>
          <p:cNvSpPr/>
          <p:nvPr/>
        </p:nvSpPr>
        <p:spPr>
          <a:xfrm>
            <a:off x="8916162" y="5026016"/>
            <a:ext cx="1917192" cy="577264"/>
          </a:xfrm>
          <a:prstGeom prst="rect">
            <a:avLst/>
          </a:prstGeom>
          <a:solidFill>
            <a:srgbClr val="F48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Process</a:t>
            </a:r>
          </a:p>
        </p:txBody>
      </p:sp>
      <p:sp>
        <p:nvSpPr>
          <p:cNvPr id="35" name="Rectangle 34">
            <a:extLst>
              <a:ext uri="{FF2B5EF4-FFF2-40B4-BE49-F238E27FC236}">
                <a16:creationId xmlns:a16="http://schemas.microsoft.com/office/drawing/2014/main" id="{7D6B1C54-0D24-6024-D23A-692FB2BDA4C0}"/>
              </a:ext>
            </a:extLst>
          </p:cNvPr>
          <p:cNvSpPr/>
          <p:nvPr/>
        </p:nvSpPr>
        <p:spPr>
          <a:xfrm>
            <a:off x="8912352" y="5988392"/>
            <a:ext cx="1917192" cy="577264"/>
          </a:xfrm>
          <a:prstGeom prst="rect">
            <a:avLst/>
          </a:prstGeom>
          <a:solidFill>
            <a:srgbClr val="F48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Physical Evidence</a:t>
            </a:r>
          </a:p>
        </p:txBody>
      </p:sp>
      <p:cxnSp>
        <p:nvCxnSpPr>
          <p:cNvPr id="37" name="Connector: Elbow 36">
            <a:extLst>
              <a:ext uri="{FF2B5EF4-FFF2-40B4-BE49-F238E27FC236}">
                <a16:creationId xmlns:a16="http://schemas.microsoft.com/office/drawing/2014/main" id="{12C9DCD3-8F7E-1CA7-B242-D4E12AA8684B}"/>
              </a:ext>
            </a:extLst>
          </p:cNvPr>
          <p:cNvCxnSpPr>
            <a:stCxn id="6" idx="3"/>
            <a:endCxn id="30" idx="1"/>
          </p:cNvCxnSpPr>
          <p:nvPr/>
        </p:nvCxnSpPr>
        <p:spPr>
          <a:xfrm flipV="1">
            <a:off x="6652260" y="485424"/>
            <a:ext cx="2263902" cy="482242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904B07DF-2895-AD8F-507C-605BBB92D73D}"/>
              </a:ext>
            </a:extLst>
          </p:cNvPr>
          <p:cNvCxnSpPr>
            <a:stCxn id="6" idx="3"/>
            <a:endCxn id="22" idx="1"/>
          </p:cNvCxnSpPr>
          <p:nvPr/>
        </p:nvCxnSpPr>
        <p:spPr>
          <a:xfrm flipV="1">
            <a:off x="6652260" y="1447800"/>
            <a:ext cx="2263902" cy="386005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1D78DAC4-BAAE-711F-308E-A6B5A781B989}"/>
              </a:ext>
            </a:extLst>
          </p:cNvPr>
          <p:cNvCxnSpPr>
            <a:stCxn id="6" idx="3"/>
            <a:endCxn id="31" idx="1"/>
          </p:cNvCxnSpPr>
          <p:nvPr/>
        </p:nvCxnSpPr>
        <p:spPr>
          <a:xfrm flipV="1">
            <a:off x="6652260" y="2417640"/>
            <a:ext cx="2258568" cy="289021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9F2300AC-65B1-A51F-2711-0078F327A547}"/>
              </a:ext>
            </a:extLst>
          </p:cNvPr>
          <p:cNvCxnSpPr>
            <a:stCxn id="6" idx="3"/>
            <a:endCxn id="32" idx="1"/>
          </p:cNvCxnSpPr>
          <p:nvPr/>
        </p:nvCxnSpPr>
        <p:spPr>
          <a:xfrm flipV="1">
            <a:off x="6652260" y="3383968"/>
            <a:ext cx="2258568" cy="192388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75315456-E93A-92DF-3491-08B9B10EED40}"/>
              </a:ext>
            </a:extLst>
          </p:cNvPr>
          <p:cNvCxnSpPr>
            <a:stCxn id="6" idx="3"/>
            <a:endCxn id="33" idx="1"/>
          </p:cNvCxnSpPr>
          <p:nvPr/>
        </p:nvCxnSpPr>
        <p:spPr>
          <a:xfrm flipV="1">
            <a:off x="6652260" y="4348320"/>
            <a:ext cx="2263902" cy="95953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93C393F2-D1C4-332E-00BA-52E2AFA3B775}"/>
              </a:ext>
            </a:extLst>
          </p:cNvPr>
          <p:cNvCxnSpPr>
            <a:stCxn id="6" idx="3"/>
            <a:endCxn id="34" idx="1"/>
          </p:cNvCxnSpPr>
          <p:nvPr/>
        </p:nvCxnSpPr>
        <p:spPr>
          <a:xfrm>
            <a:off x="6652260" y="5307852"/>
            <a:ext cx="2263902" cy="67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Connector: Elbow 52">
            <a:extLst>
              <a:ext uri="{FF2B5EF4-FFF2-40B4-BE49-F238E27FC236}">
                <a16:creationId xmlns:a16="http://schemas.microsoft.com/office/drawing/2014/main" id="{13EA8AEC-AADF-D127-E3EB-3D75EF33DE3D}"/>
              </a:ext>
            </a:extLst>
          </p:cNvPr>
          <p:cNvCxnSpPr>
            <a:stCxn id="6" idx="3"/>
            <a:endCxn id="35" idx="1"/>
          </p:cNvCxnSpPr>
          <p:nvPr/>
        </p:nvCxnSpPr>
        <p:spPr>
          <a:xfrm>
            <a:off x="6652260" y="5307852"/>
            <a:ext cx="2260092" cy="96917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50" name="Picture 2" descr="duo #duolingo #owl #bird #freetoedit - Duolingo Bird Png, Transparent Png -  kindpng">
            <a:extLst>
              <a:ext uri="{FF2B5EF4-FFF2-40B4-BE49-F238E27FC236}">
                <a16:creationId xmlns:a16="http://schemas.microsoft.com/office/drawing/2014/main" id="{0D971CF3-30DC-FC32-ECB2-0AD3DC06DDEB}"/>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8209" b="94652" l="10000" r="90000">
                        <a14:foregroundMark x1="73023" y1="8209" x2="78256" y2="13060"/>
                        <a14:foregroundMark x1="50465" y1="89801" x2="54302" y2="86194"/>
                        <a14:foregroundMark x1="52093" y1="92537" x2="51163" y2="94652"/>
                        <a14:foregroundMark x1="53023" y1="33333" x2="55465" y2="36692"/>
                        <a14:foregroundMark x1="33605" y1="42786" x2="35930" y2="46020"/>
                      </a14:backgroundRemoval>
                    </a14:imgEffect>
                  </a14:imgLayer>
                </a14:imgProps>
              </a:ext>
              <a:ext uri="{28A0092B-C50C-407E-A947-70E740481C1C}">
                <a14:useLocalDpi xmlns:a14="http://schemas.microsoft.com/office/drawing/2010/main" val="0"/>
              </a:ext>
            </a:extLst>
          </a:blip>
          <a:srcRect/>
          <a:stretch>
            <a:fillRect/>
          </a:stretch>
        </p:blipFill>
        <p:spPr bwMode="auto">
          <a:xfrm>
            <a:off x="289382" y="4010580"/>
            <a:ext cx="2789860" cy="2608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5616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37855-56C6-8B39-F366-E7881AFF4C4A}"/>
              </a:ext>
            </a:extLst>
          </p:cNvPr>
          <p:cNvSpPr>
            <a:spLocks noGrp="1"/>
          </p:cNvSpPr>
          <p:nvPr>
            <p:ph type="title"/>
          </p:nvPr>
        </p:nvSpPr>
        <p:spPr/>
        <p:txBody>
          <a:bodyPr/>
          <a:lstStyle/>
          <a:p>
            <a:r>
              <a:rPr lang="en-GB" dirty="0"/>
              <a:t>Target Audience: Segmentation</a:t>
            </a:r>
          </a:p>
        </p:txBody>
      </p:sp>
      <p:sp>
        <p:nvSpPr>
          <p:cNvPr id="3" name="Content Placeholder 2">
            <a:extLst>
              <a:ext uri="{FF2B5EF4-FFF2-40B4-BE49-F238E27FC236}">
                <a16:creationId xmlns:a16="http://schemas.microsoft.com/office/drawing/2014/main" id="{3AE4BAD0-6EBA-7B15-730C-3D086C7B53F2}"/>
              </a:ext>
            </a:extLst>
          </p:cNvPr>
          <p:cNvSpPr>
            <a:spLocks noGrp="1"/>
          </p:cNvSpPr>
          <p:nvPr>
            <p:ph idx="1"/>
          </p:nvPr>
        </p:nvSpPr>
        <p:spPr>
          <a:xfrm>
            <a:off x="838200" y="1825625"/>
            <a:ext cx="5033211" cy="4351338"/>
          </a:xfrm>
        </p:spPr>
        <p:txBody>
          <a:bodyPr/>
          <a:lstStyle/>
          <a:p>
            <a:r>
              <a:rPr lang="en-GB" dirty="0"/>
              <a:t>The UK is the third biggest users of Duolingo</a:t>
            </a:r>
          </a:p>
          <a:p>
            <a:r>
              <a:rPr lang="en-GB" dirty="0"/>
              <a:t>Nearly 20% of Duolingo users in the UK as of 2022 stated their primary motivation for using Duolingo is Travel.</a:t>
            </a:r>
          </a:p>
        </p:txBody>
      </p:sp>
      <p:pic>
        <p:nvPicPr>
          <p:cNvPr id="1026" name="Picture 2" descr="Graph of &quot;'Travel' as primary motivation of new learners in 2021 vs. 2022.&quot; On the vertical y-axis is &quot;Percent of learners,&quot; from 0% to 20%. On the horizontal x-axis is &quot;Country&quot;: U.S., Mexico, Colombia, Brazil, Argentina, U.K. Germany, India, China, Vietnam, and Japan. Each country has two bars side-by-side, one for travel in 2021 and one for travel in 2022. For nearly all countries, the 2022 bar is equal to or lower than the 2021 bar, but the U.K. and Germany are exceptions. Brazil, the U.K., and Germany have higher overall percents than other countries (between 15-20%), and India, China, and Vietnam have lower percents (7-10%). The other countries fall somewhere in between.">
            <a:extLst>
              <a:ext uri="{FF2B5EF4-FFF2-40B4-BE49-F238E27FC236}">
                <a16:creationId xmlns:a16="http://schemas.microsoft.com/office/drawing/2014/main" id="{F632BB60-4606-8591-673B-06A5A7EFDA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613902"/>
            <a:ext cx="5348838" cy="4774783"/>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a:extLst>
              <a:ext uri="{FF2B5EF4-FFF2-40B4-BE49-F238E27FC236}">
                <a16:creationId xmlns:a16="http://schemas.microsoft.com/office/drawing/2014/main" id="{D6151636-ECCF-C56D-358D-E7B9715147EB}"/>
              </a:ext>
            </a:extLst>
          </p:cNvPr>
          <p:cNvSpPr/>
          <p:nvPr/>
        </p:nvSpPr>
        <p:spPr>
          <a:xfrm>
            <a:off x="8807116" y="5181600"/>
            <a:ext cx="449179" cy="44917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C1B0017D-6946-2EAB-DE9F-05084553187B}"/>
              </a:ext>
            </a:extLst>
          </p:cNvPr>
          <p:cNvPicPr>
            <a:picLocks noChangeAspect="1"/>
          </p:cNvPicPr>
          <p:nvPr/>
        </p:nvPicPr>
        <p:blipFill>
          <a:blip r:embed="rId4"/>
          <a:stretch>
            <a:fillRect/>
          </a:stretch>
        </p:blipFill>
        <p:spPr>
          <a:xfrm>
            <a:off x="213285" y="4734233"/>
            <a:ext cx="5658126" cy="1577667"/>
          </a:xfrm>
          <a:prstGeom prst="rect">
            <a:avLst/>
          </a:prstGeom>
        </p:spPr>
      </p:pic>
      <p:sp>
        <p:nvSpPr>
          <p:cNvPr id="6" name="Rectangle 5">
            <a:extLst>
              <a:ext uri="{FF2B5EF4-FFF2-40B4-BE49-F238E27FC236}">
                <a16:creationId xmlns:a16="http://schemas.microsoft.com/office/drawing/2014/main" id="{731A1C1C-CF40-896D-8575-E463D35592E9}"/>
              </a:ext>
            </a:extLst>
          </p:cNvPr>
          <p:cNvSpPr/>
          <p:nvPr/>
        </p:nvSpPr>
        <p:spPr>
          <a:xfrm>
            <a:off x="3000375" y="5553075"/>
            <a:ext cx="2871036" cy="180975"/>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652278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6F7B41-B835-C907-18F8-AAC668685FCE}"/>
              </a:ext>
            </a:extLst>
          </p:cNvPr>
          <p:cNvSpPr>
            <a:spLocks noGrp="1"/>
          </p:cNvSpPr>
          <p:nvPr>
            <p:ph type="title"/>
          </p:nvPr>
        </p:nvSpPr>
        <p:spPr/>
        <p:txBody>
          <a:bodyPr/>
          <a:lstStyle/>
          <a:p>
            <a:r>
              <a:rPr lang="en-GB" dirty="0"/>
              <a:t>Target Audience: Segmentation</a:t>
            </a:r>
          </a:p>
        </p:txBody>
      </p:sp>
      <p:pic>
        <p:nvPicPr>
          <p:cNvPr id="5" name="Content Placeholder 4" descr="A graph of a line graph&#10;&#10;Description automatically generated with medium confidence">
            <a:extLst>
              <a:ext uri="{FF2B5EF4-FFF2-40B4-BE49-F238E27FC236}">
                <a16:creationId xmlns:a16="http://schemas.microsoft.com/office/drawing/2014/main" id="{5ECB2440-854B-47D1-D981-8833972655D2}"/>
              </a:ext>
            </a:extLst>
          </p:cNvPr>
          <p:cNvPicPr>
            <a:picLocks noGrp="1" noChangeAspect="1"/>
          </p:cNvPicPr>
          <p:nvPr>
            <p:ph idx="1"/>
          </p:nvPr>
        </p:nvPicPr>
        <p:blipFill>
          <a:blip r:embed="rId3"/>
          <a:stretch>
            <a:fillRect/>
          </a:stretch>
        </p:blipFill>
        <p:spPr>
          <a:xfrm>
            <a:off x="6353881" y="1690688"/>
            <a:ext cx="5548154" cy="4351338"/>
          </a:xfrm>
        </p:spPr>
      </p:pic>
      <p:sp>
        <p:nvSpPr>
          <p:cNvPr id="6" name="Content Placeholder 2">
            <a:extLst>
              <a:ext uri="{FF2B5EF4-FFF2-40B4-BE49-F238E27FC236}">
                <a16:creationId xmlns:a16="http://schemas.microsoft.com/office/drawing/2014/main" id="{F62C8093-6293-736D-808F-FD80FAC0C67C}"/>
              </a:ext>
            </a:extLst>
          </p:cNvPr>
          <p:cNvSpPr txBox="1">
            <a:spLocks/>
          </p:cNvSpPr>
          <p:nvPr/>
        </p:nvSpPr>
        <p:spPr>
          <a:xfrm>
            <a:off x="838200" y="1825625"/>
            <a:ext cx="503321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You can also see after the dip in travel due to COVID-19, UK residents have been increasing their travel year-by-year and is nearly at the same amount as before the pandemic.</a:t>
            </a:r>
          </a:p>
          <a:p>
            <a:r>
              <a:rPr lang="en-GB" dirty="0"/>
              <a:t>As of 2023 about 84% of UK residents went on holiday. 52% of those travelled abroad.</a:t>
            </a:r>
          </a:p>
        </p:txBody>
      </p:sp>
    </p:spTree>
    <p:extLst>
      <p:ext uri="{BB962C8B-B14F-4D97-AF65-F5344CB8AC3E}">
        <p14:creationId xmlns:p14="http://schemas.microsoft.com/office/powerpoint/2010/main" val="504858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A3B4A-9161-8EAF-354C-7C08417360DD}"/>
              </a:ext>
            </a:extLst>
          </p:cNvPr>
          <p:cNvSpPr>
            <a:spLocks noGrp="1"/>
          </p:cNvSpPr>
          <p:nvPr>
            <p:ph type="title"/>
          </p:nvPr>
        </p:nvSpPr>
        <p:spPr/>
        <p:txBody>
          <a:bodyPr/>
          <a:lstStyle/>
          <a:p>
            <a:r>
              <a:rPr lang="en-GB" dirty="0"/>
              <a:t>Target Audience: Targeting</a:t>
            </a:r>
          </a:p>
        </p:txBody>
      </p:sp>
      <p:sp>
        <p:nvSpPr>
          <p:cNvPr id="3" name="Content Placeholder 2">
            <a:extLst>
              <a:ext uri="{FF2B5EF4-FFF2-40B4-BE49-F238E27FC236}">
                <a16:creationId xmlns:a16="http://schemas.microsoft.com/office/drawing/2014/main" id="{7E39EFC5-2377-ADD3-C6DB-A1B6BBF99ABD}"/>
              </a:ext>
            </a:extLst>
          </p:cNvPr>
          <p:cNvSpPr>
            <a:spLocks noGrp="1"/>
          </p:cNvSpPr>
          <p:nvPr>
            <p:ph idx="1"/>
          </p:nvPr>
        </p:nvSpPr>
        <p:spPr>
          <a:xfrm>
            <a:off x="838199" y="1825625"/>
            <a:ext cx="10872019" cy="1603374"/>
          </a:xfrm>
        </p:spPr>
        <p:txBody>
          <a:bodyPr>
            <a:normAutofit/>
          </a:bodyPr>
          <a:lstStyle/>
          <a:p>
            <a:r>
              <a:rPr lang="en-GB" dirty="0"/>
              <a:t>Ages between 35-54 – 30.47%</a:t>
            </a:r>
          </a:p>
          <a:p>
            <a:endParaRPr lang="en-GB" dirty="0"/>
          </a:p>
          <a:p>
            <a:r>
              <a:rPr lang="en-GB" dirty="0"/>
              <a:t>Parents of various sized families</a:t>
            </a:r>
          </a:p>
          <a:p>
            <a:endParaRPr lang="en-GB" dirty="0"/>
          </a:p>
        </p:txBody>
      </p:sp>
      <p:sp>
        <p:nvSpPr>
          <p:cNvPr id="4" name="Isosceles Triangle 3">
            <a:extLst>
              <a:ext uri="{FF2B5EF4-FFF2-40B4-BE49-F238E27FC236}">
                <a16:creationId xmlns:a16="http://schemas.microsoft.com/office/drawing/2014/main" id="{38C55510-70F6-3FB1-E278-9E3A3EE33894}"/>
              </a:ext>
            </a:extLst>
          </p:cNvPr>
          <p:cNvSpPr/>
          <p:nvPr/>
        </p:nvSpPr>
        <p:spPr>
          <a:xfrm>
            <a:off x="5733635" y="1705773"/>
            <a:ext cx="5976583" cy="5152227"/>
          </a:xfrm>
          <a:prstGeom prst="triangle">
            <a:avLst/>
          </a:prstGeom>
          <a:solidFill>
            <a:srgbClr val="77C8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Straight Connector 5">
            <a:extLst>
              <a:ext uri="{FF2B5EF4-FFF2-40B4-BE49-F238E27FC236}">
                <a16:creationId xmlns:a16="http://schemas.microsoft.com/office/drawing/2014/main" id="{2B67705B-125A-1B4D-B069-AF946F8EA949}"/>
              </a:ext>
            </a:extLst>
          </p:cNvPr>
          <p:cNvCxnSpPr/>
          <p:nvPr/>
        </p:nvCxnSpPr>
        <p:spPr>
          <a:xfrm>
            <a:off x="6291618" y="5923128"/>
            <a:ext cx="4844955" cy="0"/>
          </a:xfrm>
          <a:prstGeom prst="line">
            <a:avLst/>
          </a:prstGeom>
          <a:ln w="38100">
            <a:solidFill>
              <a:srgbClr val="F3F4EF"/>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D4B40BEA-C2DC-1D4D-3F37-8C11F027157E}"/>
              </a:ext>
            </a:extLst>
          </p:cNvPr>
          <p:cNvCxnSpPr/>
          <p:nvPr/>
        </p:nvCxnSpPr>
        <p:spPr>
          <a:xfrm>
            <a:off x="8161361" y="2627312"/>
            <a:ext cx="1091821" cy="0"/>
          </a:xfrm>
          <a:prstGeom prst="line">
            <a:avLst/>
          </a:prstGeom>
          <a:ln w="38100">
            <a:solidFill>
              <a:srgbClr val="F3F4EF"/>
            </a:solidFill>
          </a:ln>
        </p:spPr>
        <p:style>
          <a:lnRef idx="3">
            <a:schemeClr val="dk1"/>
          </a:lnRef>
          <a:fillRef idx="0">
            <a:schemeClr val="dk1"/>
          </a:fillRef>
          <a:effectRef idx="2">
            <a:schemeClr val="dk1"/>
          </a:effectRef>
          <a:fontRef idx="minor">
            <a:schemeClr val="tx1"/>
          </a:fontRef>
        </p:style>
      </p:cxnSp>
      <p:cxnSp>
        <p:nvCxnSpPr>
          <p:cNvPr id="10" name="Straight Connector 9">
            <a:extLst>
              <a:ext uri="{FF2B5EF4-FFF2-40B4-BE49-F238E27FC236}">
                <a16:creationId xmlns:a16="http://schemas.microsoft.com/office/drawing/2014/main" id="{73E57F45-4873-3954-1A9A-765D7E47B5F0}"/>
              </a:ext>
            </a:extLst>
          </p:cNvPr>
          <p:cNvCxnSpPr/>
          <p:nvPr/>
        </p:nvCxnSpPr>
        <p:spPr>
          <a:xfrm>
            <a:off x="7601803" y="3643952"/>
            <a:ext cx="2210937" cy="0"/>
          </a:xfrm>
          <a:prstGeom prst="line">
            <a:avLst/>
          </a:prstGeom>
          <a:ln w="38100">
            <a:solidFill>
              <a:srgbClr val="F3F4EF"/>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AB9BB1FD-93CE-2061-E612-2D51B3B73384}"/>
              </a:ext>
            </a:extLst>
          </p:cNvPr>
          <p:cNvCxnSpPr/>
          <p:nvPr/>
        </p:nvCxnSpPr>
        <p:spPr>
          <a:xfrm>
            <a:off x="6974006" y="4735773"/>
            <a:ext cx="3493827" cy="0"/>
          </a:xfrm>
          <a:prstGeom prst="line">
            <a:avLst/>
          </a:prstGeom>
          <a:ln w="38100">
            <a:solidFill>
              <a:srgbClr val="F3F4EF"/>
            </a:solidFill>
          </a:ln>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5AF77E0C-F1AA-034C-FFDC-7252DAC8DF35}"/>
              </a:ext>
            </a:extLst>
          </p:cNvPr>
          <p:cNvSpPr txBox="1"/>
          <p:nvPr/>
        </p:nvSpPr>
        <p:spPr>
          <a:xfrm>
            <a:off x="7840638" y="2997462"/>
            <a:ext cx="1760561" cy="369332"/>
          </a:xfrm>
          <a:prstGeom prst="rect">
            <a:avLst/>
          </a:prstGeom>
          <a:noFill/>
        </p:spPr>
        <p:txBody>
          <a:bodyPr wrap="square" rtlCol="0">
            <a:spAutoFit/>
          </a:bodyPr>
          <a:lstStyle/>
          <a:p>
            <a:pPr algn="ctr"/>
            <a:r>
              <a:rPr lang="en-GB" dirty="0">
                <a:solidFill>
                  <a:schemeClr val="bg1"/>
                </a:solidFill>
              </a:rPr>
              <a:t>Esteem Needs</a:t>
            </a:r>
          </a:p>
        </p:txBody>
      </p:sp>
      <p:pic>
        <p:nvPicPr>
          <p:cNvPr id="4098" name="Picture 2" descr="The Stories Behind Duolingo's Female Characters">
            <a:extLst>
              <a:ext uri="{FF2B5EF4-FFF2-40B4-BE49-F238E27FC236}">
                <a16:creationId xmlns:a16="http://schemas.microsoft.com/office/drawing/2014/main" id="{BF13F133-8DA1-06C3-D311-553E31CAC2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117" y="4124437"/>
            <a:ext cx="5924550" cy="281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8799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7872D-FE1D-255A-1348-37E5037B901D}"/>
              </a:ext>
            </a:extLst>
          </p:cNvPr>
          <p:cNvSpPr>
            <a:spLocks noGrp="1"/>
          </p:cNvSpPr>
          <p:nvPr>
            <p:ph type="title"/>
          </p:nvPr>
        </p:nvSpPr>
        <p:spPr/>
        <p:txBody>
          <a:bodyPr/>
          <a:lstStyle/>
          <a:p>
            <a:r>
              <a:rPr lang="en-GB" dirty="0"/>
              <a:t>Marketing Communications Objective</a:t>
            </a:r>
          </a:p>
        </p:txBody>
      </p:sp>
      <p:sp>
        <p:nvSpPr>
          <p:cNvPr id="3" name="Content Placeholder 2">
            <a:extLst>
              <a:ext uri="{FF2B5EF4-FFF2-40B4-BE49-F238E27FC236}">
                <a16:creationId xmlns:a16="http://schemas.microsoft.com/office/drawing/2014/main" id="{80D90312-33E7-52EF-DBF3-D5A6228D71B9}"/>
              </a:ext>
            </a:extLst>
          </p:cNvPr>
          <p:cNvSpPr>
            <a:spLocks noGrp="1"/>
          </p:cNvSpPr>
          <p:nvPr>
            <p:ph idx="1"/>
          </p:nvPr>
        </p:nvSpPr>
        <p:spPr/>
        <p:txBody>
          <a:bodyPr>
            <a:normAutofit/>
          </a:bodyPr>
          <a:lstStyle/>
          <a:p>
            <a:r>
              <a:rPr lang="en-GB" dirty="0"/>
              <a:t>Increase awareness of the family subscription</a:t>
            </a:r>
          </a:p>
          <a:p>
            <a:endParaRPr lang="en-GB" dirty="0"/>
          </a:p>
          <a:p>
            <a:r>
              <a:rPr lang="en-GB" dirty="0"/>
              <a:t>Increase customer acquisition of people aged 35-54</a:t>
            </a:r>
          </a:p>
          <a:p>
            <a:endParaRPr lang="en-GB" dirty="0"/>
          </a:p>
          <a:p>
            <a:r>
              <a:rPr lang="en-GB" dirty="0"/>
              <a:t>Improve Duolingo's perception as a credible language learning service</a:t>
            </a:r>
          </a:p>
          <a:p>
            <a:pPr marL="0" indent="0">
              <a:buNone/>
            </a:pPr>
            <a:endParaRPr lang="en-GB" dirty="0"/>
          </a:p>
          <a:p>
            <a:r>
              <a:rPr lang="en-GB" dirty="0"/>
              <a:t>Create a perception of a family activity</a:t>
            </a:r>
          </a:p>
          <a:p>
            <a:endParaRPr lang="en-GB" dirty="0"/>
          </a:p>
          <a:p>
            <a:endParaRPr lang="en-GB" dirty="0"/>
          </a:p>
        </p:txBody>
      </p:sp>
      <p:pic>
        <p:nvPicPr>
          <p:cNvPr id="7174" name="Picture 6" descr="28 Duolingo Tips That EVERY User Should Know About - duoplanet">
            <a:extLst>
              <a:ext uri="{FF2B5EF4-FFF2-40B4-BE49-F238E27FC236}">
                <a16:creationId xmlns:a16="http://schemas.microsoft.com/office/drawing/2014/main" id="{F601DF5E-6475-B0E6-73DD-83475E5A9D9E}"/>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000" b="90000" l="10000" r="90000">
                        <a14:foregroundMark x1="41280" y1="37838" x2="41280" y2="37838"/>
                        <a14:foregroundMark x1="48480" y1="31437" x2="48480" y2="31437"/>
                        <a14:foregroundMark x1="47280" y1="66999" x2="47280" y2="66999"/>
                        <a14:foregroundMark x1="52000" y1="68706" x2="52000" y2="68706"/>
                        <a14:backgroundMark x1="49200" y1="67568" x2="49040" y2="69417"/>
                        <a14:backgroundMark x1="47200" y1="42105" x2="47680" y2="40967"/>
                        <a14:backgroundMark x1="47840" y1="33286" x2="47440" y2="32575"/>
                      </a14:backgroundRemoval>
                    </a14:imgEffect>
                  </a14:imgLayer>
                </a14:imgProps>
              </a:ext>
              <a:ext uri="{28A0092B-C50C-407E-A947-70E740481C1C}">
                <a14:useLocalDpi xmlns:a14="http://schemas.microsoft.com/office/drawing/2010/main" val="0"/>
              </a:ext>
            </a:extLst>
          </a:blip>
          <a:srcRect l="35448" t="24040" r="34371" b="24785"/>
          <a:stretch/>
        </p:blipFill>
        <p:spPr bwMode="auto">
          <a:xfrm>
            <a:off x="8962423" y="4001294"/>
            <a:ext cx="3069857" cy="29274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8473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9552B-29CA-767C-DB23-660D630EB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AFC894-ABF7-9F6D-C81E-D6B2EEC63734}"/>
              </a:ext>
            </a:extLst>
          </p:cNvPr>
          <p:cNvSpPr>
            <a:spLocks noGrp="1"/>
          </p:cNvSpPr>
          <p:nvPr>
            <p:ph type="title"/>
          </p:nvPr>
        </p:nvSpPr>
        <p:spPr/>
        <p:txBody>
          <a:bodyPr/>
          <a:lstStyle/>
          <a:p>
            <a:r>
              <a:rPr lang="en-GB" dirty="0"/>
              <a:t>Positioning &amp; Brand Strategy: Perceptual Mapping</a:t>
            </a:r>
          </a:p>
        </p:txBody>
      </p:sp>
      <p:pic>
        <p:nvPicPr>
          <p:cNvPr id="5" name="Picture 4" descr="A diagram of different languages&#10;&#10;Description automatically generated">
            <a:extLst>
              <a:ext uri="{FF2B5EF4-FFF2-40B4-BE49-F238E27FC236}">
                <a16:creationId xmlns:a16="http://schemas.microsoft.com/office/drawing/2014/main" id="{1C04810C-B943-B9D6-EA26-98A286D8F18A}"/>
              </a:ext>
            </a:extLst>
          </p:cNvPr>
          <p:cNvPicPr>
            <a:picLocks noChangeAspect="1"/>
          </p:cNvPicPr>
          <p:nvPr/>
        </p:nvPicPr>
        <p:blipFill>
          <a:blip r:embed="rId3"/>
          <a:stretch>
            <a:fillRect/>
          </a:stretch>
        </p:blipFill>
        <p:spPr>
          <a:xfrm>
            <a:off x="5214864" y="2014863"/>
            <a:ext cx="6267273" cy="4644561"/>
          </a:xfrm>
          <a:prstGeom prst="rect">
            <a:avLst/>
          </a:prstGeom>
        </p:spPr>
      </p:pic>
      <p:pic>
        <p:nvPicPr>
          <p:cNvPr id="7" name="Picture 6">
            <a:extLst>
              <a:ext uri="{FF2B5EF4-FFF2-40B4-BE49-F238E27FC236}">
                <a16:creationId xmlns:a16="http://schemas.microsoft.com/office/drawing/2014/main" id="{BC5D8E65-BFF8-4866-B70B-2BF44CFA3B43}"/>
              </a:ext>
            </a:extLst>
          </p:cNvPr>
          <p:cNvPicPr>
            <a:picLocks noChangeAspect="1"/>
          </p:cNvPicPr>
          <p:nvPr/>
        </p:nvPicPr>
        <p:blipFill>
          <a:blip r:embed="rId4"/>
          <a:stretch>
            <a:fillRect/>
          </a:stretch>
        </p:blipFill>
        <p:spPr>
          <a:xfrm>
            <a:off x="838200" y="1848314"/>
            <a:ext cx="4248327" cy="4811110"/>
          </a:xfrm>
          <a:prstGeom prst="rect">
            <a:avLst/>
          </a:prstGeom>
        </p:spPr>
      </p:pic>
    </p:spTree>
    <p:extLst>
      <p:ext uri="{BB962C8B-B14F-4D97-AF65-F5344CB8AC3E}">
        <p14:creationId xmlns:p14="http://schemas.microsoft.com/office/powerpoint/2010/main" val="3224273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BE787-1289-CBA4-4892-AF7E01644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9F9213-7ABA-7E2B-3FD5-EFF379250F14}"/>
              </a:ext>
            </a:extLst>
          </p:cNvPr>
          <p:cNvSpPr>
            <a:spLocks noGrp="1"/>
          </p:cNvSpPr>
          <p:nvPr>
            <p:ph type="title"/>
          </p:nvPr>
        </p:nvSpPr>
        <p:spPr/>
        <p:txBody>
          <a:bodyPr/>
          <a:lstStyle/>
          <a:p>
            <a:r>
              <a:rPr lang="en-GB" dirty="0"/>
              <a:t>Positioning &amp; Brand Strategy: Brand Equity Model</a:t>
            </a:r>
          </a:p>
        </p:txBody>
      </p:sp>
      <p:sp>
        <p:nvSpPr>
          <p:cNvPr id="3" name="Content Placeholder 2">
            <a:extLst>
              <a:ext uri="{FF2B5EF4-FFF2-40B4-BE49-F238E27FC236}">
                <a16:creationId xmlns:a16="http://schemas.microsoft.com/office/drawing/2014/main" id="{EAAF720E-8D45-FB2A-A83D-A5479B652923}"/>
              </a:ext>
            </a:extLst>
          </p:cNvPr>
          <p:cNvSpPr>
            <a:spLocks noGrp="1"/>
          </p:cNvSpPr>
          <p:nvPr>
            <p:ph idx="1"/>
          </p:nvPr>
        </p:nvSpPr>
        <p:spPr>
          <a:xfrm>
            <a:off x="6128084" y="1825625"/>
            <a:ext cx="5225716" cy="4351338"/>
          </a:xfrm>
        </p:spPr>
        <p:txBody>
          <a:bodyPr/>
          <a:lstStyle/>
          <a:p>
            <a:r>
              <a:rPr lang="en-GB" dirty="0"/>
              <a:t>Salience – Duolingo has a very recognisable brand logo and mascot in their owl</a:t>
            </a:r>
          </a:p>
        </p:txBody>
      </p:sp>
      <p:grpSp>
        <p:nvGrpSpPr>
          <p:cNvPr id="13" name="Group 12">
            <a:extLst>
              <a:ext uri="{FF2B5EF4-FFF2-40B4-BE49-F238E27FC236}">
                <a16:creationId xmlns:a16="http://schemas.microsoft.com/office/drawing/2014/main" id="{680B282F-F5E1-4886-1967-9173258D73DA}"/>
              </a:ext>
            </a:extLst>
          </p:cNvPr>
          <p:cNvGrpSpPr/>
          <p:nvPr/>
        </p:nvGrpSpPr>
        <p:grpSpPr>
          <a:xfrm>
            <a:off x="561473" y="1825625"/>
            <a:ext cx="5085347" cy="4383920"/>
            <a:chOff x="561473" y="1825625"/>
            <a:chExt cx="5085347" cy="4383920"/>
          </a:xfrm>
          <a:gradFill flip="none" rotWithShape="1">
            <a:gsLst>
              <a:gs pos="0">
                <a:srgbClr val="8EE000">
                  <a:shade val="30000"/>
                  <a:satMod val="115000"/>
                </a:srgbClr>
              </a:gs>
              <a:gs pos="50000">
                <a:srgbClr val="8EE000">
                  <a:shade val="67500"/>
                  <a:satMod val="115000"/>
                </a:srgbClr>
              </a:gs>
              <a:gs pos="100000">
                <a:srgbClr val="8EE000">
                  <a:shade val="100000"/>
                  <a:satMod val="115000"/>
                </a:srgbClr>
              </a:gs>
            </a:gsLst>
            <a:lin ang="2700000" scaled="1"/>
            <a:tileRect/>
          </a:gradFill>
        </p:grpSpPr>
        <p:sp>
          <p:nvSpPr>
            <p:cNvPr id="4" name="Isosceles Triangle 3">
              <a:extLst>
                <a:ext uri="{FF2B5EF4-FFF2-40B4-BE49-F238E27FC236}">
                  <a16:creationId xmlns:a16="http://schemas.microsoft.com/office/drawing/2014/main" id="{C3D64F57-7062-13DE-9D60-A4D819FF5A27}"/>
                </a:ext>
              </a:extLst>
            </p:cNvPr>
            <p:cNvSpPr/>
            <p:nvPr/>
          </p:nvSpPr>
          <p:spPr>
            <a:xfrm>
              <a:off x="561473" y="1825625"/>
              <a:ext cx="5085347" cy="4383920"/>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Straight Connector 5">
              <a:extLst>
                <a:ext uri="{FF2B5EF4-FFF2-40B4-BE49-F238E27FC236}">
                  <a16:creationId xmlns:a16="http://schemas.microsoft.com/office/drawing/2014/main" id="{BA0D3358-3FF9-EFFB-857B-37B10673AAED}"/>
                </a:ext>
              </a:extLst>
            </p:cNvPr>
            <p:cNvCxnSpPr/>
            <p:nvPr/>
          </p:nvCxnSpPr>
          <p:spPr>
            <a:xfrm>
              <a:off x="2422358" y="2999874"/>
              <a:ext cx="1379621" cy="0"/>
            </a:xfrm>
            <a:prstGeom prst="line">
              <a:avLst/>
            </a:prstGeom>
            <a:grpFill/>
            <a:ln w="38100">
              <a:solidFill>
                <a:srgbClr val="F3F4EF"/>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75091774-00FA-94CC-0BC4-27FCDEC9A02C}"/>
                </a:ext>
              </a:extLst>
            </p:cNvPr>
            <p:cNvCxnSpPr/>
            <p:nvPr/>
          </p:nvCxnSpPr>
          <p:spPr>
            <a:xfrm>
              <a:off x="1042737" y="5342021"/>
              <a:ext cx="4122821" cy="0"/>
            </a:xfrm>
            <a:prstGeom prst="line">
              <a:avLst/>
            </a:prstGeom>
            <a:grpFill/>
            <a:ln w="38100">
              <a:solidFill>
                <a:srgbClr val="F3F4EF"/>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8BBD1961-5845-BE3A-26F0-1957B9F943C0}"/>
                </a:ext>
              </a:extLst>
            </p:cNvPr>
            <p:cNvCxnSpPr/>
            <p:nvPr/>
          </p:nvCxnSpPr>
          <p:spPr>
            <a:xfrm>
              <a:off x="3104146" y="2999874"/>
              <a:ext cx="0" cy="2342147"/>
            </a:xfrm>
            <a:prstGeom prst="line">
              <a:avLst/>
            </a:prstGeom>
            <a:grpFill/>
            <a:ln w="38100">
              <a:solidFill>
                <a:srgbClr val="F3F4EF"/>
              </a:solidFill>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707AAE83-B863-B325-FA36-9F81624BA2FE}"/>
                </a:ext>
              </a:extLst>
            </p:cNvPr>
            <p:cNvCxnSpPr>
              <a:cxnSpLocks/>
              <a:stCxn id="4" idx="1"/>
              <a:endCxn id="4" idx="5"/>
            </p:cNvCxnSpPr>
            <p:nvPr/>
          </p:nvCxnSpPr>
          <p:spPr>
            <a:xfrm>
              <a:off x="1832810" y="4017585"/>
              <a:ext cx="2542673" cy="0"/>
            </a:xfrm>
            <a:prstGeom prst="line">
              <a:avLst/>
            </a:prstGeom>
            <a:grpFill/>
            <a:ln w="38100">
              <a:solidFill>
                <a:srgbClr val="F3F4EF"/>
              </a:solidFill>
            </a:ln>
          </p:spPr>
          <p:style>
            <a:lnRef idx="1">
              <a:schemeClr val="dk1"/>
            </a:lnRef>
            <a:fillRef idx="0">
              <a:schemeClr val="dk1"/>
            </a:fillRef>
            <a:effectRef idx="0">
              <a:schemeClr val="dk1"/>
            </a:effectRef>
            <a:fontRef idx="minor">
              <a:schemeClr val="tx1"/>
            </a:fontRef>
          </p:style>
        </p:cxnSp>
      </p:grpSp>
      <p:sp>
        <p:nvSpPr>
          <p:cNvPr id="14" name="TextBox 13">
            <a:extLst>
              <a:ext uri="{FF2B5EF4-FFF2-40B4-BE49-F238E27FC236}">
                <a16:creationId xmlns:a16="http://schemas.microsoft.com/office/drawing/2014/main" id="{0859FDCC-94E3-1C30-7E15-FEEA7DC0ADBA}"/>
              </a:ext>
            </a:extLst>
          </p:cNvPr>
          <p:cNvSpPr txBox="1"/>
          <p:nvPr/>
        </p:nvSpPr>
        <p:spPr>
          <a:xfrm>
            <a:off x="1925051" y="5454316"/>
            <a:ext cx="2358189" cy="523220"/>
          </a:xfrm>
          <a:prstGeom prst="rect">
            <a:avLst/>
          </a:prstGeom>
          <a:noFill/>
        </p:spPr>
        <p:txBody>
          <a:bodyPr wrap="square" rtlCol="0">
            <a:spAutoFit/>
          </a:bodyPr>
          <a:lstStyle/>
          <a:p>
            <a:pPr algn="ctr"/>
            <a:r>
              <a:rPr lang="en-GB" sz="2800" b="1" dirty="0">
                <a:solidFill>
                  <a:schemeClr val="bg1"/>
                </a:solidFill>
              </a:rPr>
              <a:t>Salience</a:t>
            </a:r>
          </a:p>
        </p:txBody>
      </p:sp>
    </p:spTree>
    <p:extLst>
      <p:ext uri="{BB962C8B-B14F-4D97-AF65-F5344CB8AC3E}">
        <p14:creationId xmlns:p14="http://schemas.microsoft.com/office/powerpoint/2010/main" val="1115492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E3207-5F8A-513C-F553-4157331A9C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F257E9-9F53-B05E-9C86-BA4737A70B90}"/>
              </a:ext>
            </a:extLst>
          </p:cNvPr>
          <p:cNvSpPr>
            <a:spLocks noGrp="1"/>
          </p:cNvSpPr>
          <p:nvPr>
            <p:ph type="title"/>
          </p:nvPr>
        </p:nvSpPr>
        <p:spPr/>
        <p:txBody>
          <a:bodyPr/>
          <a:lstStyle/>
          <a:p>
            <a:r>
              <a:rPr lang="en-GB" dirty="0"/>
              <a:t>Positioning &amp; Brand Strategy: Brand Equity Model</a:t>
            </a:r>
          </a:p>
        </p:txBody>
      </p:sp>
      <p:sp>
        <p:nvSpPr>
          <p:cNvPr id="3" name="Content Placeholder 2">
            <a:extLst>
              <a:ext uri="{FF2B5EF4-FFF2-40B4-BE49-F238E27FC236}">
                <a16:creationId xmlns:a16="http://schemas.microsoft.com/office/drawing/2014/main" id="{55684919-BDEB-C227-3B42-5957E3449C75}"/>
              </a:ext>
            </a:extLst>
          </p:cNvPr>
          <p:cNvSpPr>
            <a:spLocks noGrp="1"/>
          </p:cNvSpPr>
          <p:nvPr>
            <p:ph idx="1"/>
          </p:nvPr>
        </p:nvSpPr>
        <p:spPr>
          <a:xfrm>
            <a:off x="6128084" y="1825625"/>
            <a:ext cx="5225716" cy="4351338"/>
          </a:xfrm>
        </p:spPr>
        <p:txBody>
          <a:bodyPr/>
          <a:lstStyle/>
          <a:p>
            <a:r>
              <a:rPr lang="en-GB" dirty="0"/>
              <a:t>Performance – Duolingo provides 100+ courses for multiple languages at an affordable price being the third highest of its competitors</a:t>
            </a:r>
          </a:p>
          <a:p>
            <a:r>
              <a:rPr lang="en-GB" dirty="0"/>
              <a:t>Imagery – Duolingo enables customers to utilise these learnings when traveling to their desired destination</a:t>
            </a:r>
          </a:p>
          <a:p>
            <a:endParaRPr lang="en-GB" dirty="0"/>
          </a:p>
        </p:txBody>
      </p:sp>
      <p:grpSp>
        <p:nvGrpSpPr>
          <p:cNvPr id="13" name="Group 12">
            <a:extLst>
              <a:ext uri="{FF2B5EF4-FFF2-40B4-BE49-F238E27FC236}">
                <a16:creationId xmlns:a16="http://schemas.microsoft.com/office/drawing/2014/main" id="{D5E515E1-4F81-1AF3-80E4-63855536C3FE}"/>
              </a:ext>
            </a:extLst>
          </p:cNvPr>
          <p:cNvGrpSpPr/>
          <p:nvPr/>
        </p:nvGrpSpPr>
        <p:grpSpPr>
          <a:xfrm>
            <a:off x="561473" y="1825625"/>
            <a:ext cx="5085347" cy="4383920"/>
            <a:chOff x="561473" y="1825625"/>
            <a:chExt cx="5085347" cy="4383920"/>
          </a:xfrm>
          <a:solidFill>
            <a:srgbClr val="77C800"/>
          </a:solidFill>
        </p:grpSpPr>
        <p:sp>
          <p:nvSpPr>
            <p:cNvPr id="4" name="Isosceles Triangle 3">
              <a:extLst>
                <a:ext uri="{FF2B5EF4-FFF2-40B4-BE49-F238E27FC236}">
                  <a16:creationId xmlns:a16="http://schemas.microsoft.com/office/drawing/2014/main" id="{ACE791CF-8211-5885-DE3E-3D496783CF3C}"/>
                </a:ext>
              </a:extLst>
            </p:cNvPr>
            <p:cNvSpPr/>
            <p:nvPr/>
          </p:nvSpPr>
          <p:spPr>
            <a:xfrm>
              <a:off x="561473" y="1825625"/>
              <a:ext cx="5085347" cy="4383920"/>
            </a:xfrm>
            <a:prstGeom prst="triangle">
              <a:avLst/>
            </a:prstGeom>
            <a:solidFill>
              <a:srgbClr val="77C8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6" name="Straight Connector 5">
              <a:extLst>
                <a:ext uri="{FF2B5EF4-FFF2-40B4-BE49-F238E27FC236}">
                  <a16:creationId xmlns:a16="http://schemas.microsoft.com/office/drawing/2014/main" id="{87CBF502-BA41-F565-6A22-D1FC1D12DDB7}"/>
                </a:ext>
              </a:extLst>
            </p:cNvPr>
            <p:cNvCxnSpPr/>
            <p:nvPr/>
          </p:nvCxnSpPr>
          <p:spPr>
            <a:xfrm>
              <a:off x="2422358" y="2999874"/>
              <a:ext cx="1379621" cy="0"/>
            </a:xfrm>
            <a:prstGeom prst="line">
              <a:avLst/>
            </a:prstGeom>
            <a:grpFill/>
            <a:ln w="38100">
              <a:solidFill>
                <a:srgbClr val="F3F4EF"/>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76A2664E-8D19-B453-4A14-F3B742EC9C86}"/>
                </a:ext>
              </a:extLst>
            </p:cNvPr>
            <p:cNvCxnSpPr/>
            <p:nvPr/>
          </p:nvCxnSpPr>
          <p:spPr>
            <a:xfrm>
              <a:off x="1042737" y="5342021"/>
              <a:ext cx="4122821" cy="0"/>
            </a:xfrm>
            <a:prstGeom prst="line">
              <a:avLst/>
            </a:prstGeom>
            <a:grpFill/>
            <a:ln w="38100">
              <a:solidFill>
                <a:srgbClr val="F3F4EF"/>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86664302-E630-3F48-4D1F-D7D79DC12663}"/>
                </a:ext>
              </a:extLst>
            </p:cNvPr>
            <p:cNvCxnSpPr/>
            <p:nvPr/>
          </p:nvCxnSpPr>
          <p:spPr>
            <a:xfrm>
              <a:off x="3104146" y="2999874"/>
              <a:ext cx="0" cy="2342147"/>
            </a:xfrm>
            <a:prstGeom prst="line">
              <a:avLst/>
            </a:prstGeom>
            <a:grpFill/>
            <a:ln w="38100">
              <a:solidFill>
                <a:srgbClr val="F3F4EF"/>
              </a:solidFill>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F9201ACB-93A9-999F-FD63-497C5F621546}"/>
                </a:ext>
              </a:extLst>
            </p:cNvPr>
            <p:cNvCxnSpPr>
              <a:stCxn id="4" idx="1"/>
              <a:endCxn id="4" idx="5"/>
            </p:cNvCxnSpPr>
            <p:nvPr/>
          </p:nvCxnSpPr>
          <p:spPr>
            <a:xfrm>
              <a:off x="1832810" y="4017585"/>
              <a:ext cx="2542673" cy="0"/>
            </a:xfrm>
            <a:prstGeom prst="line">
              <a:avLst/>
            </a:prstGeom>
            <a:grpFill/>
            <a:ln w="38100">
              <a:solidFill>
                <a:srgbClr val="F3F4EF"/>
              </a:solidFill>
            </a:ln>
          </p:spPr>
          <p:style>
            <a:lnRef idx="1">
              <a:schemeClr val="dk1"/>
            </a:lnRef>
            <a:fillRef idx="0">
              <a:schemeClr val="dk1"/>
            </a:fillRef>
            <a:effectRef idx="0">
              <a:schemeClr val="dk1"/>
            </a:effectRef>
            <a:fontRef idx="minor">
              <a:schemeClr val="tx1"/>
            </a:fontRef>
          </p:style>
        </p:cxnSp>
      </p:grpSp>
      <p:sp>
        <p:nvSpPr>
          <p:cNvPr id="14" name="TextBox 13">
            <a:extLst>
              <a:ext uri="{FF2B5EF4-FFF2-40B4-BE49-F238E27FC236}">
                <a16:creationId xmlns:a16="http://schemas.microsoft.com/office/drawing/2014/main" id="{632D775C-8BAA-2FA0-6D22-A82D131C3201}"/>
              </a:ext>
            </a:extLst>
          </p:cNvPr>
          <p:cNvSpPr txBox="1"/>
          <p:nvPr/>
        </p:nvSpPr>
        <p:spPr>
          <a:xfrm>
            <a:off x="1925051" y="5454316"/>
            <a:ext cx="2358189" cy="523220"/>
          </a:xfrm>
          <a:prstGeom prst="rect">
            <a:avLst/>
          </a:prstGeom>
          <a:noFill/>
        </p:spPr>
        <p:txBody>
          <a:bodyPr wrap="square" rtlCol="0">
            <a:spAutoFit/>
          </a:bodyPr>
          <a:lstStyle/>
          <a:p>
            <a:pPr algn="ctr"/>
            <a:r>
              <a:rPr lang="en-GB" sz="2800" b="1" dirty="0">
                <a:solidFill>
                  <a:schemeClr val="bg1"/>
                </a:solidFill>
              </a:rPr>
              <a:t>Salience</a:t>
            </a:r>
          </a:p>
        </p:txBody>
      </p:sp>
      <p:sp>
        <p:nvSpPr>
          <p:cNvPr id="15" name="TextBox 14">
            <a:extLst>
              <a:ext uri="{FF2B5EF4-FFF2-40B4-BE49-F238E27FC236}">
                <a16:creationId xmlns:a16="http://schemas.microsoft.com/office/drawing/2014/main" id="{D81FD902-DF32-E131-0C94-BC57C1B5A624}"/>
              </a:ext>
            </a:extLst>
          </p:cNvPr>
          <p:cNvSpPr txBox="1"/>
          <p:nvPr/>
        </p:nvSpPr>
        <p:spPr>
          <a:xfrm>
            <a:off x="1042737" y="4517839"/>
            <a:ext cx="2358189" cy="400110"/>
          </a:xfrm>
          <a:prstGeom prst="rect">
            <a:avLst/>
          </a:prstGeom>
          <a:noFill/>
        </p:spPr>
        <p:txBody>
          <a:bodyPr wrap="square" rtlCol="0">
            <a:spAutoFit/>
          </a:bodyPr>
          <a:lstStyle/>
          <a:p>
            <a:pPr algn="ctr"/>
            <a:r>
              <a:rPr lang="en-GB" sz="2000" b="1" dirty="0">
                <a:solidFill>
                  <a:schemeClr val="bg1"/>
                </a:solidFill>
              </a:rPr>
              <a:t>Performance</a:t>
            </a:r>
          </a:p>
        </p:txBody>
      </p:sp>
      <p:sp>
        <p:nvSpPr>
          <p:cNvPr id="16" name="TextBox 15">
            <a:extLst>
              <a:ext uri="{FF2B5EF4-FFF2-40B4-BE49-F238E27FC236}">
                <a16:creationId xmlns:a16="http://schemas.microsoft.com/office/drawing/2014/main" id="{940F1AF0-4AD0-3DC7-1ADF-57D22D9DB530}"/>
              </a:ext>
            </a:extLst>
          </p:cNvPr>
          <p:cNvSpPr txBox="1"/>
          <p:nvPr/>
        </p:nvSpPr>
        <p:spPr>
          <a:xfrm>
            <a:off x="2759243" y="4509798"/>
            <a:ext cx="2358189" cy="400110"/>
          </a:xfrm>
          <a:prstGeom prst="rect">
            <a:avLst/>
          </a:prstGeom>
          <a:noFill/>
        </p:spPr>
        <p:txBody>
          <a:bodyPr wrap="square" rtlCol="0">
            <a:spAutoFit/>
          </a:bodyPr>
          <a:lstStyle/>
          <a:p>
            <a:pPr algn="ctr"/>
            <a:r>
              <a:rPr lang="en-GB" sz="2000" b="1" dirty="0">
                <a:solidFill>
                  <a:schemeClr val="bg1"/>
                </a:solidFill>
              </a:rPr>
              <a:t>Imagery</a:t>
            </a:r>
          </a:p>
        </p:txBody>
      </p:sp>
    </p:spTree>
    <p:extLst>
      <p:ext uri="{BB962C8B-B14F-4D97-AF65-F5344CB8AC3E}">
        <p14:creationId xmlns:p14="http://schemas.microsoft.com/office/powerpoint/2010/main" val="2698394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5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fade">
                                      <p:cBhvr>
                                        <p:cTn id="1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50B42B-A14D-139B-F001-73DD7DBF7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A0009A-6802-53F6-615D-57B03F0C28EE}"/>
              </a:ext>
            </a:extLst>
          </p:cNvPr>
          <p:cNvSpPr>
            <a:spLocks noGrp="1"/>
          </p:cNvSpPr>
          <p:nvPr>
            <p:ph type="title"/>
          </p:nvPr>
        </p:nvSpPr>
        <p:spPr/>
        <p:txBody>
          <a:bodyPr/>
          <a:lstStyle/>
          <a:p>
            <a:r>
              <a:rPr lang="en-GB" dirty="0"/>
              <a:t>Positioning &amp; Brand Strategy: Brand Equity Model</a:t>
            </a:r>
          </a:p>
        </p:txBody>
      </p:sp>
      <p:sp>
        <p:nvSpPr>
          <p:cNvPr id="3" name="Content Placeholder 2">
            <a:extLst>
              <a:ext uri="{FF2B5EF4-FFF2-40B4-BE49-F238E27FC236}">
                <a16:creationId xmlns:a16="http://schemas.microsoft.com/office/drawing/2014/main" id="{594F6D6D-0702-1AA5-3082-D6DB79100140}"/>
              </a:ext>
            </a:extLst>
          </p:cNvPr>
          <p:cNvSpPr>
            <a:spLocks noGrp="1"/>
          </p:cNvSpPr>
          <p:nvPr>
            <p:ph idx="1"/>
          </p:nvPr>
        </p:nvSpPr>
        <p:spPr>
          <a:xfrm>
            <a:off x="6128084" y="1825625"/>
            <a:ext cx="5225716" cy="4351338"/>
          </a:xfrm>
        </p:spPr>
        <p:txBody>
          <a:bodyPr>
            <a:normAutofit lnSpcReduction="10000"/>
          </a:bodyPr>
          <a:lstStyle/>
          <a:p>
            <a:r>
              <a:rPr lang="en-GB" dirty="0"/>
              <a:t>Judgements – Duolingo is a helpful tool which is great for learning a language before travel with an acceptance of it being successful</a:t>
            </a:r>
          </a:p>
          <a:p>
            <a:r>
              <a:rPr lang="en-GB" dirty="0"/>
              <a:t>Feelings – Duolingo brings families closer together in their journey of learning a new language for their travels – this will invoke happiness, pride, inclusion when traveling and learning</a:t>
            </a:r>
          </a:p>
          <a:p>
            <a:endParaRPr lang="en-GB" dirty="0"/>
          </a:p>
        </p:txBody>
      </p:sp>
      <p:grpSp>
        <p:nvGrpSpPr>
          <p:cNvPr id="13" name="Group 12">
            <a:extLst>
              <a:ext uri="{FF2B5EF4-FFF2-40B4-BE49-F238E27FC236}">
                <a16:creationId xmlns:a16="http://schemas.microsoft.com/office/drawing/2014/main" id="{DF70432B-2B0A-0F3C-4182-CE67E17C056B}"/>
              </a:ext>
            </a:extLst>
          </p:cNvPr>
          <p:cNvGrpSpPr/>
          <p:nvPr/>
        </p:nvGrpSpPr>
        <p:grpSpPr>
          <a:xfrm>
            <a:off x="561473" y="1825625"/>
            <a:ext cx="5085347" cy="4383920"/>
            <a:chOff x="561473" y="1825625"/>
            <a:chExt cx="5085347" cy="4383920"/>
          </a:xfrm>
          <a:solidFill>
            <a:srgbClr val="77C800"/>
          </a:solidFill>
        </p:grpSpPr>
        <p:sp>
          <p:nvSpPr>
            <p:cNvPr id="4" name="Isosceles Triangle 3">
              <a:extLst>
                <a:ext uri="{FF2B5EF4-FFF2-40B4-BE49-F238E27FC236}">
                  <a16:creationId xmlns:a16="http://schemas.microsoft.com/office/drawing/2014/main" id="{314D2170-1EDD-6178-E5ED-B56BFE017EBE}"/>
                </a:ext>
              </a:extLst>
            </p:cNvPr>
            <p:cNvSpPr/>
            <p:nvPr/>
          </p:nvSpPr>
          <p:spPr>
            <a:xfrm>
              <a:off x="561473" y="1825625"/>
              <a:ext cx="5085347" cy="4383920"/>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Straight Connector 5">
              <a:extLst>
                <a:ext uri="{FF2B5EF4-FFF2-40B4-BE49-F238E27FC236}">
                  <a16:creationId xmlns:a16="http://schemas.microsoft.com/office/drawing/2014/main" id="{DEFEB202-EA41-9089-F7C7-97983949C5B0}"/>
                </a:ext>
              </a:extLst>
            </p:cNvPr>
            <p:cNvCxnSpPr/>
            <p:nvPr/>
          </p:nvCxnSpPr>
          <p:spPr>
            <a:xfrm>
              <a:off x="2422358" y="2999874"/>
              <a:ext cx="1379621" cy="0"/>
            </a:xfrm>
            <a:prstGeom prst="line">
              <a:avLst/>
            </a:prstGeom>
            <a:grpFill/>
            <a:ln w="38100">
              <a:solidFill>
                <a:srgbClr val="F3F4EF"/>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14E30089-AF57-85AE-97BC-733309CD4C30}"/>
                </a:ext>
              </a:extLst>
            </p:cNvPr>
            <p:cNvCxnSpPr/>
            <p:nvPr/>
          </p:nvCxnSpPr>
          <p:spPr>
            <a:xfrm>
              <a:off x="1042737" y="5342021"/>
              <a:ext cx="4122821" cy="0"/>
            </a:xfrm>
            <a:prstGeom prst="line">
              <a:avLst/>
            </a:prstGeom>
            <a:grpFill/>
            <a:ln w="38100">
              <a:solidFill>
                <a:srgbClr val="F3F4EF"/>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96121813-4272-7D06-CEE7-D7B58E6D1EF2}"/>
                </a:ext>
              </a:extLst>
            </p:cNvPr>
            <p:cNvCxnSpPr/>
            <p:nvPr/>
          </p:nvCxnSpPr>
          <p:spPr>
            <a:xfrm>
              <a:off x="3104146" y="2999874"/>
              <a:ext cx="0" cy="2342147"/>
            </a:xfrm>
            <a:prstGeom prst="line">
              <a:avLst/>
            </a:prstGeom>
            <a:grpFill/>
            <a:ln w="38100">
              <a:solidFill>
                <a:srgbClr val="F3F4EF"/>
              </a:solidFill>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B7439D25-2AB0-C2B5-7A69-DE29DD517AEA}"/>
                </a:ext>
              </a:extLst>
            </p:cNvPr>
            <p:cNvCxnSpPr>
              <a:stCxn id="4" idx="1"/>
              <a:endCxn id="4" idx="5"/>
            </p:cNvCxnSpPr>
            <p:nvPr/>
          </p:nvCxnSpPr>
          <p:spPr>
            <a:xfrm>
              <a:off x="1832810" y="4017585"/>
              <a:ext cx="2542673" cy="0"/>
            </a:xfrm>
            <a:prstGeom prst="line">
              <a:avLst/>
            </a:prstGeom>
            <a:grpFill/>
            <a:ln w="38100">
              <a:solidFill>
                <a:srgbClr val="F3F4EF"/>
              </a:solidFill>
            </a:ln>
          </p:spPr>
          <p:style>
            <a:lnRef idx="1">
              <a:schemeClr val="dk1"/>
            </a:lnRef>
            <a:fillRef idx="0">
              <a:schemeClr val="dk1"/>
            </a:fillRef>
            <a:effectRef idx="0">
              <a:schemeClr val="dk1"/>
            </a:effectRef>
            <a:fontRef idx="minor">
              <a:schemeClr val="tx1"/>
            </a:fontRef>
          </p:style>
        </p:cxnSp>
      </p:grpSp>
      <p:sp>
        <p:nvSpPr>
          <p:cNvPr id="14" name="TextBox 13">
            <a:extLst>
              <a:ext uri="{FF2B5EF4-FFF2-40B4-BE49-F238E27FC236}">
                <a16:creationId xmlns:a16="http://schemas.microsoft.com/office/drawing/2014/main" id="{5153AAB9-526E-5961-E492-D9745C61E02F}"/>
              </a:ext>
            </a:extLst>
          </p:cNvPr>
          <p:cNvSpPr txBox="1"/>
          <p:nvPr/>
        </p:nvSpPr>
        <p:spPr>
          <a:xfrm>
            <a:off x="1925051" y="5454316"/>
            <a:ext cx="2358189" cy="523220"/>
          </a:xfrm>
          <a:prstGeom prst="rect">
            <a:avLst/>
          </a:prstGeom>
          <a:noFill/>
        </p:spPr>
        <p:txBody>
          <a:bodyPr wrap="square" rtlCol="0">
            <a:spAutoFit/>
          </a:bodyPr>
          <a:lstStyle/>
          <a:p>
            <a:pPr algn="ctr"/>
            <a:r>
              <a:rPr lang="en-GB" sz="2800" b="1" dirty="0">
                <a:solidFill>
                  <a:schemeClr val="bg1"/>
                </a:solidFill>
              </a:rPr>
              <a:t>Salience</a:t>
            </a:r>
          </a:p>
        </p:txBody>
      </p:sp>
      <p:sp>
        <p:nvSpPr>
          <p:cNvPr id="15" name="TextBox 14">
            <a:extLst>
              <a:ext uri="{FF2B5EF4-FFF2-40B4-BE49-F238E27FC236}">
                <a16:creationId xmlns:a16="http://schemas.microsoft.com/office/drawing/2014/main" id="{44938318-41ED-0FD6-2B51-456805AF676E}"/>
              </a:ext>
            </a:extLst>
          </p:cNvPr>
          <p:cNvSpPr txBox="1"/>
          <p:nvPr/>
        </p:nvSpPr>
        <p:spPr>
          <a:xfrm>
            <a:off x="1042737" y="4517839"/>
            <a:ext cx="2358189" cy="400110"/>
          </a:xfrm>
          <a:prstGeom prst="rect">
            <a:avLst/>
          </a:prstGeom>
          <a:noFill/>
        </p:spPr>
        <p:txBody>
          <a:bodyPr wrap="square" rtlCol="0">
            <a:spAutoFit/>
          </a:bodyPr>
          <a:lstStyle/>
          <a:p>
            <a:pPr algn="ctr"/>
            <a:r>
              <a:rPr lang="en-GB" sz="2000" b="1" dirty="0">
                <a:solidFill>
                  <a:schemeClr val="bg1"/>
                </a:solidFill>
              </a:rPr>
              <a:t>Performance</a:t>
            </a:r>
          </a:p>
        </p:txBody>
      </p:sp>
      <p:sp>
        <p:nvSpPr>
          <p:cNvPr id="16" name="TextBox 15">
            <a:extLst>
              <a:ext uri="{FF2B5EF4-FFF2-40B4-BE49-F238E27FC236}">
                <a16:creationId xmlns:a16="http://schemas.microsoft.com/office/drawing/2014/main" id="{698AAB83-64BE-89D5-11CF-F729CE79869F}"/>
              </a:ext>
            </a:extLst>
          </p:cNvPr>
          <p:cNvSpPr txBox="1"/>
          <p:nvPr/>
        </p:nvSpPr>
        <p:spPr>
          <a:xfrm>
            <a:off x="2759243" y="4509798"/>
            <a:ext cx="2358189" cy="400110"/>
          </a:xfrm>
          <a:prstGeom prst="rect">
            <a:avLst/>
          </a:prstGeom>
          <a:noFill/>
        </p:spPr>
        <p:txBody>
          <a:bodyPr wrap="square" rtlCol="0">
            <a:spAutoFit/>
          </a:bodyPr>
          <a:lstStyle/>
          <a:p>
            <a:pPr algn="ctr"/>
            <a:r>
              <a:rPr lang="en-GB" sz="2000" b="1" dirty="0">
                <a:solidFill>
                  <a:schemeClr val="bg1"/>
                </a:solidFill>
              </a:rPr>
              <a:t>Imagery</a:t>
            </a:r>
          </a:p>
        </p:txBody>
      </p:sp>
      <p:sp>
        <p:nvSpPr>
          <p:cNvPr id="17" name="TextBox 16">
            <a:extLst>
              <a:ext uri="{FF2B5EF4-FFF2-40B4-BE49-F238E27FC236}">
                <a16:creationId xmlns:a16="http://schemas.microsoft.com/office/drawing/2014/main" id="{BA2F2482-372B-C472-068D-9F1731232A1C}"/>
              </a:ext>
            </a:extLst>
          </p:cNvPr>
          <p:cNvSpPr txBox="1"/>
          <p:nvPr/>
        </p:nvSpPr>
        <p:spPr>
          <a:xfrm>
            <a:off x="2422358" y="3410894"/>
            <a:ext cx="2358189" cy="307777"/>
          </a:xfrm>
          <a:prstGeom prst="rect">
            <a:avLst/>
          </a:prstGeom>
          <a:noFill/>
        </p:spPr>
        <p:txBody>
          <a:bodyPr wrap="square" rtlCol="0">
            <a:spAutoFit/>
          </a:bodyPr>
          <a:lstStyle/>
          <a:p>
            <a:pPr algn="ctr"/>
            <a:r>
              <a:rPr lang="en-GB" sz="1400" b="1" dirty="0">
                <a:solidFill>
                  <a:schemeClr val="bg1"/>
                </a:solidFill>
              </a:rPr>
              <a:t>Feelings</a:t>
            </a:r>
          </a:p>
        </p:txBody>
      </p:sp>
      <p:sp>
        <p:nvSpPr>
          <p:cNvPr id="18" name="TextBox 17">
            <a:extLst>
              <a:ext uri="{FF2B5EF4-FFF2-40B4-BE49-F238E27FC236}">
                <a16:creationId xmlns:a16="http://schemas.microsoft.com/office/drawing/2014/main" id="{9E77A1C9-B710-DB4B-1B5F-1E5398FB51D3}"/>
              </a:ext>
            </a:extLst>
          </p:cNvPr>
          <p:cNvSpPr txBox="1"/>
          <p:nvPr/>
        </p:nvSpPr>
        <p:spPr>
          <a:xfrm>
            <a:off x="1387641" y="3435048"/>
            <a:ext cx="2358189" cy="307777"/>
          </a:xfrm>
          <a:prstGeom prst="rect">
            <a:avLst/>
          </a:prstGeom>
          <a:noFill/>
        </p:spPr>
        <p:txBody>
          <a:bodyPr wrap="square" rtlCol="0">
            <a:spAutoFit/>
          </a:bodyPr>
          <a:lstStyle/>
          <a:p>
            <a:pPr algn="ctr"/>
            <a:r>
              <a:rPr lang="en-GB" sz="1400" b="1" dirty="0">
                <a:solidFill>
                  <a:schemeClr val="bg1"/>
                </a:solidFill>
              </a:rPr>
              <a:t>Judgements</a:t>
            </a:r>
          </a:p>
        </p:txBody>
      </p:sp>
    </p:spTree>
    <p:extLst>
      <p:ext uri="{BB962C8B-B14F-4D97-AF65-F5344CB8AC3E}">
        <p14:creationId xmlns:p14="http://schemas.microsoft.com/office/powerpoint/2010/main" val="810283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7" grpId="0"/>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99C4C-CB6E-A76E-C8E4-76C4ACACE4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C5AF7B-EEE6-D96B-3C66-4F1371957EBF}"/>
              </a:ext>
            </a:extLst>
          </p:cNvPr>
          <p:cNvSpPr>
            <a:spLocks noGrp="1"/>
          </p:cNvSpPr>
          <p:nvPr>
            <p:ph type="title"/>
          </p:nvPr>
        </p:nvSpPr>
        <p:spPr/>
        <p:txBody>
          <a:bodyPr/>
          <a:lstStyle/>
          <a:p>
            <a:r>
              <a:rPr lang="en-GB" dirty="0"/>
              <a:t>Positioning &amp; Brand Strategy: Brand Equity Model</a:t>
            </a:r>
          </a:p>
        </p:txBody>
      </p:sp>
      <p:sp>
        <p:nvSpPr>
          <p:cNvPr id="3" name="Content Placeholder 2">
            <a:extLst>
              <a:ext uri="{FF2B5EF4-FFF2-40B4-BE49-F238E27FC236}">
                <a16:creationId xmlns:a16="http://schemas.microsoft.com/office/drawing/2014/main" id="{AF6DAF53-9252-61CB-FDCD-043F6383B8CA}"/>
              </a:ext>
            </a:extLst>
          </p:cNvPr>
          <p:cNvSpPr>
            <a:spLocks noGrp="1"/>
          </p:cNvSpPr>
          <p:nvPr>
            <p:ph idx="1"/>
          </p:nvPr>
        </p:nvSpPr>
        <p:spPr>
          <a:xfrm>
            <a:off x="6128084" y="1825625"/>
            <a:ext cx="5225716" cy="4351338"/>
          </a:xfrm>
        </p:spPr>
        <p:txBody>
          <a:bodyPr>
            <a:normAutofit/>
          </a:bodyPr>
          <a:lstStyle/>
          <a:p>
            <a:r>
              <a:rPr lang="en-GB" dirty="0"/>
              <a:t>Resonance – Duolingo create early ‘holiday/travel buzz’ which fills audience with accomplishment when they successfully use their studies abroad</a:t>
            </a:r>
          </a:p>
        </p:txBody>
      </p:sp>
      <p:grpSp>
        <p:nvGrpSpPr>
          <p:cNvPr id="13" name="Group 12">
            <a:extLst>
              <a:ext uri="{FF2B5EF4-FFF2-40B4-BE49-F238E27FC236}">
                <a16:creationId xmlns:a16="http://schemas.microsoft.com/office/drawing/2014/main" id="{17181A19-9BD5-8C46-8C40-7F35390C872A}"/>
              </a:ext>
            </a:extLst>
          </p:cNvPr>
          <p:cNvGrpSpPr/>
          <p:nvPr/>
        </p:nvGrpSpPr>
        <p:grpSpPr>
          <a:xfrm>
            <a:off x="561473" y="1825625"/>
            <a:ext cx="5085347" cy="4383920"/>
            <a:chOff x="561473" y="1825625"/>
            <a:chExt cx="5085347" cy="4383920"/>
          </a:xfrm>
          <a:solidFill>
            <a:srgbClr val="77C800"/>
          </a:solidFill>
        </p:grpSpPr>
        <p:sp>
          <p:nvSpPr>
            <p:cNvPr id="4" name="Isosceles Triangle 3">
              <a:extLst>
                <a:ext uri="{FF2B5EF4-FFF2-40B4-BE49-F238E27FC236}">
                  <a16:creationId xmlns:a16="http://schemas.microsoft.com/office/drawing/2014/main" id="{D8D19786-882B-7347-CAA6-E78CB63CDC64}"/>
                </a:ext>
              </a:extLst>
            </p:cNvPr>
            <p:cNvSpPr/>
            <p:nvPr/>
          </p:nvSpPr>
          <p:spPr>
            <a:xfrm>
              <a:off x="561473" y="1825625"/>
              <a:ext cx="5085347" cy="4383920"/>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Straight Connector 5">
              <a:extLst>
                <a:ext uri="{FF2B5EF4-FFF2-40B4-BE49-F238E27FC236}">
                  <a16:creationId xmlns:a16="http://schemas.microsoft.com/office/drawing/2014/main" id="{00DED0EE-BF0A-3025-EB76-2E586F1AEC1B}"/>
                </a:ext>
              </a:extLst>
            </p:cNvPr>
            <p:cNvCxnSpPr/>
            <p:nvPr/>
          </p:nvCxnSpPr>
          <p:spPr>
            <a:xfrm>
              <a:off x="2422358" y="2999874"/>
              <a:ext cx="1379621" cy="0"/>
            </a:xfrm>
            <a:prstGeom prst="line">
              <a:avLst/>
            </a:prstGeom>
            <a:grpFill/>
            <a:ln w="38100">
              <a:solidFill>
                <a:srgbClr val="F3F4EF"/>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5722DC08-54B4-BDD0-08CD-A95CCA507980}"/>
                </a:ext>
              </a:extLst>
            </p:cNvPr>
            <p:cNvCxnSpPr/>
            <p:nvPr/>
          </p:nvCxnSpPr>
          <p:spPr>
            <a:xfrm>
              <a:off x="1042737" y="5342021"/>
              <a:ext cx="4122821" cy="0"/>
            </a:xfrm>
            <a:prstGeom prst="line">
              <a:avLst/>
            </a:prstGeom>
            <a:grpFill/>
            <a:ln w="38100">
              <a:solidFill>
                <a:srgbClr val="F3F4EF"/>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82A6E32E-F342-6CC0-E2F2-35C4378646A1}"/>
                </a:ext>
              </a:extLst>
            </p:cNvPr>
            <p:cNvCxnSpPr/>
            <p:nvPr/>
          </p:nvCxnSpPr>
          <p:spPr>
            <a:xfrm>
              <a:off x="3104146" y="2999874"/>
              <a:ext cx="0" cy="2342147"/>
            </a:xfrm>
            <a:prstGeom prst="line">
              <a:avLst/>
            </a:prstGeom>
            <a:grpFill/>
            <a:ln w="38100">
              <a:solidFill>
                <a:srgbClr val="F3F4EF"/>
              </a:solidFill>
            </a:ln>
          </p:spPr>
          <p:style>
            <a:lnRef idx="1">
              <a:schemeClr val="dk1"/>
            </a:lnRef>
            <a:fillRef idx="0">
              <a:schemeClr val="dk1"/>
            </a:fillRef>
            <a:effectRef idx="0">
              <a:schemeClr val="dk1"/>
            </a:effectRef>
            <a:fontRef idx="minor">
              <a:schemeClr val="tx1"/>
            </a:fontRef>
          </p:style>
        </p:cxnSp>
        <p:cxnSp>
          <p:nvCxnSpPr>
            <p:cNvPr id="12" name="Straight Connector 11">
              <a:extLst>
                <a:ext uri="{FF2B5EF4-FFF2-40B4-BE49-F238E27FC236}">
                  <a16:creationId xmlns:a16="http://schemas.microsoft.com/office/drawing/2014/main" id="{5F415D01-FE3A-2FBD-C4E0-A6B11AE5F0B8}"/>
                </a:ext>
              </a:extLst>
            </p:cNvPr>
            <p:cNvCxnSpPr>
              <a:stCxn id="4" idx="1"/>
              <a:endCxn id="4" idx="5"/>
            </p:cNvCxnSpPr>
            <p:nvPr/>
          </p:nvCxnSpPr>
          <p:spPr>
            <a:xfrm>
              <a:off x="1832810" y="4017585"/>
              <a:ext cx="2542673" cy="0"/>
            </a:xfrm>
            <a:prstGeom prst="line">
              <a:avLst/>
            </a:prstGeom>
            <a:grpFill/>
            <a:ln w="38100">
              <a:solidFill>
                <a:srgbClr val="F3F4EF"/>
              </a:solidFill>
            </a:ln>
          </p:spPr>
          <p:style>
            <a:lnRef idx="1">
              <a:schemeClr val="dk1"/>
            </a:lnRef>
            <a:fillRef idx="0">
              <a:schemeClr val="dk1"/>
            </a:fillRef>
            <a:effectRef idx="0">
              <a:schemeClr val="dk1"/>
            </a:effectRef>
            <a:fontRef idx="minor">
              <a:schemeClr val="tx1"/>
            </a:fontRef>
          </p:style>
        </p:cxnSp>
      </p:grpSp>
      <p:sp>
        <p:nvSpPr>
          <p:cNvPr id="14" name="TextBox 13">
            <a:extLst>
              <a:ext uri="{FF2B5EF4-FFF2-40B4-BE49-F238E27FC236}">
                <a16:creationId xmlns:a16="http://schemas.microsoft.com/office/drawing/2014/main" id="{F3C1A5C7-C90D-51C3-9941-FB70DCB91DA2}"/>
              </a:ext>
            </a:extLst>
          </p:cNvPr>
          <p:cNvSpPr txBox="1"/>
          <p:nvPr/>
        </p:nvSpPr>
        <p:spPr>
          <a:xfrm>
            <a:off x="1925051" y="5454316"/>
            <a:ext cx="2358189" cy="523220"/>
          </a:xfrm>
          <a:prstGeom prst="rect">
            <a:avLst/>
          </a:prstGeom>
          <a:noFill/>
        </p:spPr>
        <p:txBody>
          <a:bodyPr wrap="square" rtlCol="0">
            <a:spAutoFit/>
          </a:bodyPr>
          <a:lstStyle/>
          <a:p>
            <a:pPr algn="ctr"/>
            <a:r>
              <a:rPr lang="en-GB" sz="2800" b="1" dirty="0">
                <a:solidFill>
                  <a:schemeClr val="bg1"/>
                </a:solidFill>
              </a:rPr>
              <a:t>Salience</a:t>
            </a:r>
          </a:p>
        </p:txBody>
      </p:sp>
      <p:sp>
        <p:nvSpPr>
          <p:cNvPr id="15" name="TextBox 14">
            <a:extLst>
              <a:ext uri="{FF2B5EF4-FFF2-40B4-BE49-F238E27FC236}">
                <a16:creationId xmlns:a16="http://schemas.microsoft.com/office/drawing/2014/main" id="{501F5002-8F5B-9832-B003-5575DEA39AD1}"/>
              </a:ext>
            </a:extLst>
          </p:cNvPr>
          <p:cNvSpPr txBox="1"/>
          <p:nvPr/>
        </p:nvSpPr>
        <p:spPr>
          <a:xfrm>
            <a:off x="1042737" y="4517839"/>
            <a:ext cx="2358189" cy="400110"/>
          </a:xfrm>
          <a:prstGeom prst="rect">
            <a:avLst/>
          </a:prstGeom>
          <a:noFill/>
        </p:spPr>
        <p:txBody>
          <a:bodyPr wrap="square" rtlCol="0">
            <a:spAutoFit/>
          </a:bodyPr>
          <a:lstStyle/>
          <a:p>
            <a:pPr algn="ctr"/>
            <a:r>
              <a:rPr lang="en-GB" sz="2000" b="1" dirty="0">
                <a:solidFill>
                  <a:schemeClr val="bg1"/>
                </a:solidFill>
              </a:rPr>
              <a:t>Performance</a:t>
            </a:r>
          </a:p>
        </p:txBody>
      </p:sp>
      <p:sp>
        <p:nvSpPr>
          <p:cNvPr id="16" name="TextBox 15">
            <a:extLst>
              <a:ext uri="{FF2B5EF4-FFF2-40B4-BE49-F238E27FC236}">
                <a16:creationId xmlns:a16="http://schemas.microsoft.com/office/drawing/2014/main" id="{F049E3D6-10FF-1586-5697-7CD5E8C2CD5E}"/>
              </a:ext>
            </a:extLst>
          </p:cNvPr>
          <p:cNvSpPr txBox="1"/>
          <p:nvPr/>
        </p:nvSpPr>
        <p:spPr>
          <a:xfrm>
            <a:off x="2759243" y="4509798"/>
            <a:ext cx="2358189" cy="400110"/>
          </a:xfrm>
          <a:prstGeom prst="rect">
            <a:avLst/>
          </a:prstGeom>
          <a:noFill/>
        </p:spPr>
        <p:txBody>
          <a:bodyPr wrap="square" rtlCol="0">
            <a:spAutoFit/>
          </a:bodyPr>
          <a:lstStyle/>
          <a:p>
            <a:pPr algn="ctr"/>
            <a:r>
              <a:rPr lang="en-GB" sz="2000" b="1" dirty="0">
                <a:solidFill>
                  <a:schemeClr val="bg1"/>
                </a:solidFill>
              </a:rPr>
              <a:t>Imagery</a:t>
            </a:r>
          </a:p>
        </p:txBody>
      </p:sp>
      <p:sp>
        <p:nvSpPr>
          <p:cNvPr id="17" name="TextBox 16">
            <a:extLst>
              <a:ext uri="{FF2B5EF4-FFF2-40B4-BE49-F238E27FC236}">
                <a16:creationId xmlns:a16="http://schemas.microsoft.com/office/drawing/2014/main" id="{610F29CF-CC0B-F32F-791C-0273C116B664}"/>
              </a:ext>
            </a:extLst>
          </p:cNvPr>
          <p:cNvSpPr txBox="1"/>
          <p:nvPr/>
        </p:nvSpPr>
        <p:spPr>
          <a:xfrm>
            <a:off x="2422358" y="3410894"/>
            <a:ext cx="2358189" cy="307777"/>
          </a:xfrm>
          <a:prstGeom prst="rect">
            <a:avLst/>
          </a:prstGeom>
          <a:noFill/>
        </p:spPr>
        <p:txBody>
          <a:bodyPr wrap="square" rtlCol="0">
            <a:spAutoFit/>
          </a:bodyPr>
          <a:lstStyle/>
          <a:p>
            <a:pPr algn="ctr"/>
            <a:r>
              <a:rPr lang="en-GB" sz="1400" b="1" dirty="0">
                <a:solidFill>
                  <a:schemeClr val="bg1"/>
                </a:solidFill>
              </a:rPr>
              <a:t>Feelings</a:t>
            </a:r>
          </a:p>
        </p:txBody>
      </p:sp>
      <p:sp>
        <p:nvSpPr>
          <p:cNvPr id="18" name="TextBox 17">
            <a:extLst>
              <a:ext uri="{FF2B5EF4-FFF2-40B4-BE49-F238E27FC236}">
                <a16:creationId xmlns:a16="http://schemas.microsoft.com/office/drawing/2014/main" id="{34212E3C-F948-2BFB-BD07-03B626A27AE7}"/>
              </a:ext>
            </a:extLst>
          </p:cNvPr>
          <p:cNvSpPr txBox="1"/>
          <p:nvPr/>
        </p:nvSpPr>
        <p:spPr>
          <a:xfrm>
            <a:off x="1387641" y="3435048"/>
            <a:ext cx="2358189" cy="307777"/>
          </a:xfrm>
          <a:prstGeom prst="rect">
            <a:avLst/>
          </a:prstGeom>
          <a:noFill/>
        </p:spPr>
        <p:txBody>
          <a:bodyPr wrap="square" rtlCol="0">
            <a:spAutoFit/>
          </a:bodyPr>
          <a:lstStyle/>
          <a:p>
            <a:pPr algn="ctr"/>
            <a:r>
              <a:rPr lang="en-GB" sz="1400" b="1" dirty="0">
                <a:solidFill>
                  <a:schemeClr val="bg1"/>
                </a:solidFill>
              </a:rPr>
              <a:t>Judgements</a:t>
            </a:r>
          </a:p>
        </p:txBody>
      </p:sp>
      <p:sp>
        <p:nvSpPr>
          <p:cNvPr id="19" name="TextBox 18">
            <a:extLst>
              <a:ext uri="{FF2B5EF4-FFF2-40B4-BE49-F238E27FC236}">
                <a16:creationId xmlns:a16="http://schemas.microsoft.com/office/drawing/2014/main" id="{9FE114E5-699B-AF1A-92BA-33BEEBAB38DB}"/>
              </a:ext>
            </a:extLst>
          </p:cNvPr>
          <p:cNvSpPr txBox="1"/>
          <p:nvPr/>
        </p:nvSpPr>
        <p:spPr>
          <a:xfrm>
            <a:off x="1933073" y="2436912"/>
            <a:ext cx="2358189" cy="307777"/>
          </a:xfrm>
          <a:prstGeom prst="rect">
            <a:avLst/>
          </a:prstGeom>
          <a:noFill/>
        </p:spPr>
        <p:txBody>
          <a:bodyPr wrap="square" rtlCol="0">
            <a:spAutoFit/>
          </a:bodyPr>
          <a:lstStyle/>
          <a:p>
            <a:pPr algn="ctr"/>
            <a:r>
              <a:rPr lang="en-GB" sz="1400" b="1" dirty="0">
                <a:solidFill>
                  <a:schemeClr val="bg1"/>
                </a:solidFill>
              </a:rPr>
              <a:t>Resonance</a:t>
            </a:r>
          </a:p>
        </p:txBody>
      </p:sp>
    </p:spTree>
    <p:extLst>
      <p:ext uri="{BB962C8B-B14F-4D97-AF65-F5344CB8AC3E}">
        <p14:creationId xmlns:p14="http://schemas.microsoft.com/office/powerpoint/2010/main" val="1748788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C2D65-A47F-D1E7-0EAF-2C918107E49C}"/>
              </a:ext>
            </a:extLst>
          </p:cNvPr>
          <p:cNvSpPr>
            <a:spLocks noGrp="1"/>
          </p:cNvSpPr>
          <p:nvPr>
            <p:ph type="title"/>
          </p:nvPr>
        </p:nvSpPr>
        <p:spPr/>
        <p:txBody>
          <a:bodyPr/>
          <a:lstStyle/>
          <a:p>
            <a:r>
              <a:rPr lang="en-GB" dirty="0"/>
              <a:t>Positioning &amp; Brand Strategy: SWOT Analysis</a:t>
            </a:r>
          </a:p>
        </p:txBody>
      </p:sp>
      <p:graphicFrame>
        <p:nvGraphicFramePr>
          <p:cNvPr id="4" name="Table 3">
            <a:extLst>
              <a:ext uri="{FF2B5EF4-FFF2-40B4-BE49-F238E27FC236}">
                <a16:creationId xmlns:a16="http://schemas.microsoft.com/office/drawing/2014/main" id="{AA95FD12-0BC9-341C-9E32-6D92880120F3}"/>
              </a:ext>
            </a:extLst>
          </p:cNvPr>
          <p:cNvGraphicFramePr>
            <a:graphicFrameLocks noGrp="1"/>
          </p:cNvGraphicFramePr>
          <p:nvPr>
            <p:extLst>
              <p:ext uri="{D42A27DB-BD31-4B8C-83A1-F6EECF244321}">
                <p14:modId xmlns:p14="http://schemas.microsoft.com/office/powerpoint/2010/main" val="1488021901"/>
              </p:ext>
            </p:extLst>
          </p:nvPr>
        </p:nvGraphicFramePr>
        <p:xfrm>
          <a:off x="264694" y="1690688"/>
          <a:ext cx="11662612" cy="4851400"/>
        </p:xfrm>
        <a:graphic>
          <a:graphicData uri="http://schemas.openxmlformats.org/drawingml/2006/table">
            <a:tbl>
              <a:tblPr firstRow="1" bandRow="1">
                <a:tableStyleId>{08FB837D-C827-4EFA-A057-4D05807E0F7C}</a:tableStyleId>
              </a:tblPr>
              <a:tblGrid>
                <a:gridCol w="2915653">
                  <a:extLst>
                    <a:ext uri="{9D8B030D-6E8A-4147-A177-3AD203B41FA5}">
                      <a16:colId xmlns:a16="http://schemas.microsoft.com/office/drawing/2014/main" val="2157994415"/>
                    </a:ext>
                  </a:extLst>
                </a:gridCol>
                <a:gridCol w="2915653">
                  <a:extLst>
                    <a:ext uri="{9D8B030D-6E8A-4147-A177-3AD203B41FA5}">
                      <a16:colId xmlns:a16="http://schemas.microsoft.com/office/drawing/2014/main" val="581825522"/>
                    </a:ext>
                  </a:extLst>
                </a:gridCol>
                <a:gridCol w="2915653">
                  <a:extLst>
                    <a:ext uri="{9D8B030D-6E8A-4147-A177-3AD203B41FA5}">
                      <a16:colId xmlns:a16="http://schemas.microsoft.com/office/drawing/2014/main" val="469470399"/>
                    </a:ext>
                  </a:extLst>
                </a:gridCol>
                <a:gridCol w="2915653">
                  <a:extLst>
                    <a:ext uri="{9D8B030D-6E8A-4147-A177-3AD203B41FA5}">
                      <a16:colId xmlns:a16="http://schemas.microsoft.com/office/drawing/2014/main" val="303638720"/>
                    </a:ext>
                  </a:extLst>
                </a:gridCol>
              </a:tblGrid>
              <a:tr h="370840">
                <a:tc>
                  <a:txBody>
                    <a:bodyPr/>
                    <a:lstStyle/>
                    <a:p>
                      <a:pPr algn="ctr"/>
                      <a:r>
                        <a:rPr lang="en-GB" dirty="0"/>
                        <a:t>Strength</a:t>
                      </a:r>
                    </a:p>
                  </a:txBody>
                  <a:tcPr/>
                </a:tc>
                <a:tc>
                  <a:txBody>
                    <a:bodyPr/>
                    <a:lstStyle/>
                    <a:p>
                      <a:pPr algn="ctr"/>
                      <a:r>
                        <a:rPr lang="en-GB" dirty="0"/>
                        <a:t>Weakness</a:t>
                      </a:r>
                    </a:p>
                  </a:txBody>
                  <a:tcPr/>
                </a:tc>
                <a:tc>
                  <a:txBody>
                    <a:bodyPr/>
                    <a:lstStyle/>
                    <a:p>
                      <a:pPr algn="ctr"/>
                      <a:r>
                        <a:rPr lang="en-GB" dirty="0"/>
                        <a:t>Threats</a:t>
                      </a:r>
                    </a:p>
                  </a:txBody>
                  <a:tcPr/>
                </a:tc>
                <a:tc>
                  <a:txBody>
                    <a:bodyPr/>
                    <a:lstStyle/>
                    <a:p>
                      <a:pPr algn="ctr"/>
                      <a:r>
                        <a:rPr lang="en-GB" dirty="0"/>
                        <a:t>Opportunities</a:t>
                      </a:r>
                    </a:p>
                  </a:txBody>
                  <a:tcPr/>
                </a:tc>
                <a:extLst>
                  <a:ext uri="{0D108BD9-81ED-4DB2-BD59-A6C34878D82A}">
                    <a16:rowId xmlns:a16="http://schemas.microsoft.com/office/drawing/2014/main" val="3337674469"/>
                  </a:ext>
                </a:extLst>
              </a:tr>
              <a:tr h="370840">
                <a:tc>
                  <a:txBody>
                    <a:bodyPr/>
                    <a:lstStyle/>
                    <a:p>
                      <a:pPr marL="285750" indent="-285750">
                        <a:buFont typeface="Arial" panose="020B0604020202020204" pitchFamily="34" charset="0"/>
                        <a:buChar char="•"/>
                      </a:pPr>
                      <a:r>
                        <a:rPr lang="en-GB" sz="1600" dirty="0"/>
                        <a:t>Enjoyable app and experience</a:t>
                      </a:r>
                    </a:p>
                    <a:p>
                      <a:pPr marL="285750" indent="-285750">
                        <a:buFont typeface="Arial" panose="020B0604020202020204" pitchFamily="34" charset="0"/>
                        <a:buChar char="•"/>
                      </a:pPr>
                      <a:r>
                        <a:rPr lang="en-GB" sz="1600" dirty="0"/>
                        <a:t>Multiple languages to learn – second highest of competitors</a:t>
                      </a:r>
                    </a:p>
                    <a:p>
                      <a:pPr marL="285750" indent="-285750">
                        <a:buFont typeface="Arial" panose="020B0604020202020204" pitchFamily="34" charset="0"/>
                        <a:buChar char="•"/>
                      </a:pPr>
                      <a:r>
                        <a:rPr lang="en-GB" sz="1600" dirty="0"/>
                        <a:t>Free version is very accessible – can still learn all the languages</a:t>
                      </a:r>
                    </a:p>
                    <a:p>
                      <a:pPr marL="285750" indent="-285750">
                        <a:buFont typeface="Arial" panose="020B0604020202020204" pitchFamily="34" charset="0"/>
                        <a:buChar char="•"/>
                      </a:pPr>
                      <a:r>
                        <a:rPr lang="en-GB" sz="1600" dirty="0"/>
                        <a:t>Close to being a household name</a:t>
                      </a:r>
                    </a:p>
                    <a:p>
                      <a:pPr marL="285750" indent="-285750">
                        <a:buFont typeface="Arial" panose="020B0604020202020204" pitchFamily="34" charset="0"/>
                        <a:buChar char="•"/>
                      </a:pPr>
                      <a:r>
                        <a:rPr lang="en-GB" sz="1600" dirty="0"/>
                        <a:t>Yearly subscription is one of the lowest among competitors</a:t>
                      </a:r>
                    </a:p>
                    <a:p>
                      <a:pPr marL="285750" indent="-285750">
                        <a:buFont typeface="Arial" panose="020B0604020202020204" pitchFamily="34" charset="0"/>
                        <a:buChar char="•"/>
                      </a:pPr>
                      <a:r>
                        <a:rPr lang="en-GB" sz="1600" dirty="0"/>
                        <a:t>Gamified approach makes it rewarding to learn</a:t>
                      </a:r>
                    </a:p>
                    <a:p>
                      <a:pPr marL="285750" indent="-285750">
                        <a:buFont typeface="Arial" panose="020B0604020202020204" pitchFamily="34" charset="0"/>
                        <a:buChar char="•"/>
                      </a:pPr>
                      <a:r>
                        <a:rPr lang="en-GB" sz="1600" dirty="0"/>
                        <a:t>Has a website to do learning alongside the app</a:t>
                      </a:r>
                    </a:p>
                    <a:p>
                      <a:pPr marL="285750" indent="-285750">
                        <a:buFont typeface="Arial" panose="020B0604020202020204" pitchFamily="34" charset="0"/>
                        <a:buChar char="•"/>
                      </a:pPr>
                      <a:r>
                        <a:rPr lang="en-GB" sz="1600" dirty="0"/>
                        <a:t>Big social media presence</a:t>
                      </a:r>
                    </a:p>
                  </a:txBody>
                  <a:tcPr/>
                </a:tc>
                <a:tc>
                  <a:txBody>
                    <a:bodyPr/>
                    <a:lstStyle/>
                    <a:p>
                      <a:pPr marL="285750" indent="-285750">
                        <a:buFont typeface="Arial" panose="020B0604020202020204" pitchFamily="34" charset="0"/>
                        <a:buChar char="•"/>
                      </a:pPr>
                      <a:r>
                        <a:rPr lang="en-GB" sz="1600" dirty="0"/>
                        <a:t>There is no option for a lifetime subscription</a:t>
                      </a:r>
                    </a:p>
                    <a:p>
                      <a:pPr marL="285750" indent="-285750">
                        <a:buFont typeface="Arial" panose="020B0604020202020204" pitchFamily="34" charset="0"/>
                        <a:buChar char="•"/>
                      </a:pPr>
                      <a:r>
                        <a:rPr lang="en-GB" sz="1600" dirty="0"/>
                        <a:t>Gamified approach may deter an aging audience</a:t>
                      </a:r>
                    </a:p>
                    <a:p>
                      <a:pPr marL="285750" indent="-285750">
                        <a:buFont typeface="Arial" panose="020B0604020202020204" pitchFamily="34" charset="0"/>
                        <a:buChar char="•"/>
                      </a:pPr>
                      <a:r>
                        <a:rPr lang="en-GB" sz="1600" dirty="0"/>
                        <a:t>Monthly subscription among competitors is one of the highest and with a young target audience they may not be able to afford it</a:t>
                      </a:r>
                    </a:p>
                    <a:p>
                      <a:pPr marL="285750" indent="-285750">
                        <a:buFont typeface="Arial" panose="020B0604020202020204" pitchFamily="34" charset="0"/>
                        <a:buChar char="•"/>
                      </a:pPr>
                      <a:r>
                        <a:rPr lang="en-GB" sz="1600" dirty="0"/>
                        <a:t>Perception that fluency cannot be learnt through Duolingo</a:t>
                      </a:r>
                    </a:p>
                  </a:txBody>
                  <a:tcPr/>
                </a:tc>
                <a:tc>
                  <a:txBody>
                    <a:bodyPr/>
                    <a:lstStyle/>
                    <a:p>
                      <a:pPr marL="285750" indent="-285750">
                        <a:buFont typeface="Arial" panose="020B0604020202020204" pitchFamily="34" charset="0"/>
                        <a:buChar char="•"/>
                      </a:pPr>
                      <a:r>
                        <a:rPr lang="en-GB" sz="1600" dirty="0"/>
                        <a:t>Other free language learning services</a:t>
                      </a:r>
                    </a:p>
                    <a:p>
                      <a:pPr marL="285750" indent="-285750">
                        <a:buFont typeface="Arial" panose="020B0604020202020204" pitchFamily="34" charset="0"/>
                        <a:buChar char="•"/>
                      </a:pPr>
                      <a:r>
                        <a:rPr lang="en-GB" sz="1600" dirty="0"/>
                        <a:t>Private tutors that have an inherent ‘better quality’ to them</a:t>
                      </a:r>
                    </a:p>
                    <a:p>
                      <a:pPr marL="285750" indent="-285750">
                        <a:buFont typeface="Arial" panose="020B0604020202020204" pitchFamily="34" charset="0"/>
                        <a:buChar char="•"/>
                      </a:pPr>
                      <a:r>
                        <a:rPr lang="en-GB" sz="1600" dirty="0"/>
                        <a:t>Environmental issues – carbon footprint, pandemics</a:t>
                      </a:r>
                    </a:p>
                    <a:p>
                      <a:pPr marL="285750" indent="-285750">
                        <a:buFont typeface="Arial" panose="020B0604020202020204" pitchFamily="34" charset="0"/>
                        <a:buChar char="•"/>
                      </a:pPr>
                      <a:r>
                        <a:rPr lang="en-GB" sz="1600" dirty="0"/>
                        <a:t>Lifetime subscriptions from other services means people don’t need to venture out to other services</a:t>
                      </a:r>
                    </a:p>
                  </a:txBody>
                  <a:tcPr/>
                </a:tc>
                <a:tc>
                  <a:txBody>
                    <a:bodyPr/>
                    <a:lstStyle/>
                    <a:p>
                      <a:pPr marL="285750" indent="-285750">
                        <a:buFont typeface="Arial" panose="020B0604020202020204" pitchFamily="34" charset="0"/>
                        <a:buChar char="•"/>
                      </a:pPr>
                      <a:r>
                        <a:rPr lang="en-GB" sz="1600" dirty="0"/>
                        <a:t>Travel is a big growing sector</a:t>
                      </a:r>
                    </a:p>
                    <a:p>
                      <a:pPr marL="285750" indent="-285750">
                        <a:buFont typeface="Arial" panose="020B0604020202020204" pitchFamily="34" charset="0"/>
                        <a:buChar char="•"/>
                      </a:pPr>
                      <a:r>
                        <a:rPr lang="en-GB" sz="1600" dirty="0"/>
                        <a:t>Many people have picked up studying a language during and after the pandemic</a:t>
                      </a:r>
                    </a:p>
                    <a:p>
                      <a:pPr marL="285750" indent="-285750">
                        <a:buFont typeface="Arial" panose="020B0604020202020204" pitchFamily="34" charset="0"/>
                        <a:buChar char="•"/>
                      </a:pPr>
                      <a:r>
                        <a:rPr lang="en-GB" sz="1600" dirty="0"/>
                        <a:t>Opportunity to charge more due to being one of the cheapest subscriptions</a:t>
                      </a:r>
                    </a:p>
                    <a:p>
                      <a:pPr marL="285750" indent="-285750">
                        <a:buFont typeface="Arial" panose="020B0604020202020204" pitchFamily="34" charset="0"/>
                        <a:buChar char="•"/>
                      </a:pPr>
                      <a:r>
                        <a:rPr lang="en-GB" sz="1600" dirty="0"/>
                        <a:t>Charge an individual lifetime subscription</a:t>
                      </a:r>
                    </a:p>
                  </a:txBody>
                  <a:tcPr/>
                </a:tc>
                <a:extLst>
                  <a:ext uri="{0D108BD9-81ED-4DB2-BD59-A6C34878D82A}">
                    <a16:rowId xmlns:a16="http://schemas.microsoft.com/office/drawing/2014/main" val="671035056"/>
                  </a:ext>
                </a:extLst>
              </a:tr>
            </a:tbl>
          </a:graphicData>
        </a:graphic>
      </p:graphicFrame>
    </p:spTree>
    <p:extLst>
      <p:ext uri="{BB962C8B-B14F-4D97-AF65-F5344CB8AC3E}">
        <p14:creationId xmlns:p14="http://schemas.microsoft.com/office/powerpoint/2010/main" val="3931981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91B69-AE74-0675-F4E0-62FD1680686F}"/>
              </a:ext>
            </a:extLst>
          </p:cNvPr>
          <p:cNvSpPr>
            <a:spLocks noGrp="1"/>
          </p:cNvSpPr>
          <p:nvPr>
            <p:ph type="title"/>
          </p:nvPr>
        </p:nvSpPr>
        <p:spPr/>
        <p:txBody>
          <a:bodyPr/>
          <a:lstStyle/>
          <a:p>
            <a:r>
              <a:rPr lang="en-GB" dirty="0"/>
              <a:t>Messaging Strategy</a:t>
            </a:r>
          </a:p>
        </p:txBody>
      </p:sp>
      <p:sp>
        <p:nvSpPr>
          <p:cNvPr id="3" name="Content Placeholder 2">
            <a:extLst>
              <a:ext uri="{FF2B5EF4-FFF2-40B4-BE49-F238E27FC236}">
                <a16:creationId xmlns:a16="http://schemas.microsoft.com/office/drawing/2014/main" id="{08060472-C8D7-1C18-424E-613E485A0D88}"/>
              </a:ext>
            </a:extLst>
          </p:cNvPr>
          <p:cNvSpPr>
            <a:spLocks noGrp="1"/>
          </p:cNvSpPr>
          <p:nvPr>
            <p:ph idx="1"/>
          </p:nvPr>
        </p:nvSpPr>
        <p:spPr>
          <a:xfrm>
            <a:off x="838200" y="2055377"/>
            <a:ext cx="10515600" cy="2747246"/>
          </a:xfrm>
        </p:spPr>
        <p:txBody>
          <a:bodyPr>
            <a:normAutofit/>
          </a:bodyPr>
          <a:lstStyle/>
          <a:p>
            <a:pPr marL="0" indent="0" algn="ctr">
              <a:buNone/>
            </a:pPr>
            <a:r>
              <a:rPr lang="en-GB" sz="8000" dirty="0"/>
              <a:t>Family Adventure</a:t>
            </a:r>
          </a:p>
          <a:p>
            <a:pPr marL="0" indent="0" algn="ctr">
              <a:buNone/>
            </a:pPr>
            <a:r>
              <a:rPr lang="en-GB" sz="8000" dirty="0"/>
              <a:t>Awaits</a:t>
            </a:r>
          </a:p>
        </p:txBody>
      </p:sp>
      <p:pic>
        <p:nvPicPr>
          <p:cNvPr id="5124" name="Picture 4" descr="Learn a language for free">
            <a:extLst>
              <a:ext uri="{FF2B5EF4-FFF2-40B4-BE49-F238E27FC236}">
                <a16:creationId xmlns:a16="http://schemas.microsoft.com/office/drawing/2014/main" id="{C1FB964E-B17F-EE8C-1176-6A1F4F71B7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061" y="3429001"/>
            <a:ext cx="5122506"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7694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0FA66-8A75-BDA1-D715-90488AE8DA43}"/>
              </a:ext>
            </a:extLst>
          </p:cNvPr>
          <p:cNvSpPr>
            <a:spLocks noGrp="1"/>
          </p:cNvSpPr>
          <p:nvPr>
            <p:ph type="title"/>
          </p:nvPr>
        </p:nvSpPr>
        <p:spPr/>
        <p:txBody>
          <a:bodyPr/>
          <a:lstStyle/>
          <a:p>
            <a:r>
              <a:rPr lang="en-GB" dirty="0"/>
              <a:t>Messaging Strategy: 7Ps</a:t>
            </a:r>
          </a:p>
        </p:txBody>
      </p:sp>
      <p:sp>
        <p:nvSpPr>
          <p:cNvPr id="3" name="Content Placeholder 2">
            <a:extLst>
              <a:ext uri="{FF2B5EF4-FFF2-40B4-BE49-F238E27FC236}">
                <a16:creationId xmlns:a16="http://schemas.microsoft.com/office/drawing/2014/main" id="{F5D930B9-ADF4-6D08-5000-C8E3BF252161}"/>
              </a:ext>
            </a:extLst>
          </p:cNvPr>
          <p:cNvSpPr>
            <a:spLocks noGrp="1"/>
          </p:cNvSpPr>
          <p:nvPr>
            <p:ph idx="1"/>
          </p:nvPr>
        </p:nvSpPr>
        <p:spPr/>
        <p:txBody>
          <a:bodyPr>
            <a:normAutofit fontScale="77500" lnSpcReduction="20000"/>
          </a:bodyPr>
          <a:lstStyle/>
          <a:p>
            <a:pPr marL="514350" indent="-514350">
              <a:buFont typeface="+mj-lt"/>
              <a:buAutoNum type="arabicPeriod"/>
            </a:pPr>
            <a:r>
              <a:rPr lang="en-GB" dirty="0"/>
              <a:t>Product – Duolingo is a language learning service which enables audiences to choose their desired language from a choice of 100+ where they can compete and have fun with family</a:t>
            </a:r>
          </a:p>
          <a:p>
            <a:pPr marL="514350" indent="-514350">
              <a:buFont typeface="+mj-lt"/>
              <a:buAutoNum type="arabicPeriod"/>
            </a:pPr>
            <a:r>
              <a:rPr lang="en-GB" dirty="0"/>
              <a:t>Price – Duolingo will retain its place as the third most expensive alongside its competitors but add a lifetime subscription to its individual courses</a:t>
            </a:r>
          </a:p>
          <a:p>
            <a:pPr marL="514350" indent="-514350">
              <a:buFont typeface="+mj-lt"/>
              <a:buAutoNum type="arabicPeriod"/>
            </a:pPr>
            <a:r>
              <a:rPr lang="en-GB" dirty="0"/>
              <a:t>Place – Available online and via an app, </a:t>
            </a:r>
            <a:r>
              <a:rPr lang="en-GB" dirty="0" err="1"/>
              <a:t>duolingo</a:t>
            </a:r>
            <a:r>
              <a:rPr lang="en-GB" dirty="0"/>
              <a:t> is accessible to most if not all</a:t>
            </a:r>
          </a:p>
          <a:p>
            <a:pPr marL="514350" indent="-514350">
              <a:buFont typeface="+mj-lt"/>
              <a:buAutoNum type="arabicPeriod"/>
            </a:pPr>
            <a:r>
              <a:rPr lang="en-GB" dirty="0"/>
              <a:t>Promotion – Through a variety of ways such as social media, physical &amp; digital adverts and word of mouth (WOM) </a:t>
            </a:r>
          </a:p>
          <a:p>
            <a:pPr marL="514350" indent="-514350">
              <a:buFont typeface="+mj-lt"/>
              <a:buAutoNum type="arabicPeriod"/>
            </a:pPr>
            <a:r>
              <a:rPr lang="en-GB" dirty="0"/>
              <a:t>People – Strong social presence and known by many (arguably a household name), will include influencers to create increased &amp; improved integrity for its services</a:t>
            </a:r>
          </a:p>
          <a:p>
            <a:pPr marL="514350" indent="-514350">
              <a:buFont typeface="+mj-lt"/>
              <a:buAutoNum type="arabicPeriod"/>
            </a:pPr>
            <a:r>
              <a:rPr lang="en-GB" dirty="0"/>
              <a:t>Process – Gamified approach provides entertainment alongside education to create a sense of joy and accomplishment</a:t>
            </a:r>
          </a:p>
          <a:p>
            <a:pPr marL="514350" indent="-514350">
              <a:buFont typeface="+mj-lt"/>
              <a:buAutoNum type="arabicPeriod"/>
            </a:pPr>
            <a:r>
              <a:rPr lang="en-GB" dirty="0"/>
              <a:t>Physical Evidence – evidence will be shown through earned media as well as influencers discussing and showing the service</a:t>
            </a:r>
          </a:p>
        </p:txBody>
      </p:sp>
    </p:spTree>
    <p:extLst>
      <p:ext uri="{BB962C8B-B14F-4D97-AF65-F5344CB8AC3E}">
        <p14:creationId xmlns:p14="http://schemas.microsoft.com/office/powerpoint/2010/main" val="2930956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E2637-5D4B-A4D8-AC90-A7C81342E0ED}"/>
              </a:ext>
            </a:extLst>
          </p:cNvPr>
          <p:cNvSpPr>
            <a:spLocks noGrp="1"/>
          </p:cNvSpPr>
          <p:nvPr>
            <p:ph type="title"/>
          </p:nvPr>
        </p:nvSpPr>
        <p:spPr/>
        <p:txBody>
          <a:bodyPr/>
          <a:lstStyle/>
          <a:p>
            <a:r>
              <a:rPr lang="en-GB" dirty="0"/>
              <a:t>Messaging Strategy: AIDA</a:t>
            </a:r>
          </a:p>
        </p:txBody>
      </p:sp>
      <p:sp>
        <p:nvSpPr>
          <p:cNvPr id="4" name="Isosceles Triangle 3">
            <a:extLst>
              <a:ext uri="{FF2B5EF4-FFF2-40B4-BE49-F238E27FC236}">
                <a16:creationId xmlns:a16="http://schemas.microsoft.com/office/drawing/2014/main" id="{69A6FE90-6B80-7B24-26AE-77C66A2928F6}"/>
              </a:ext>
            </a:extLst>
          </p:cNvPr>
          <p:cNvSpPr/>
          <p:nvPr/>
        </p:nvSpPr>
        <p:spPr>
          <a:xfrm rot="10800000">
            <a:off x="838200" y="1825625"/>
            <a:ext cx="5047552" cy="4351338"/>
          </a:xfrm>
          <a:prstGeom prst="triangle">
            <a:avLst/>
          </a:prstGeom>
          <a:solidFill>
            <a:srgbClr val="77C8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6" name="Straight Connector 5">
            <a:extLst>
              <a:ext uri="{FF2B5EF4-FFF2-40B4-BE49-F238E27FC236}">
                <a16:creationId xmlns:a16="http://schemas.microsoft.com/office/drawing/2014/main" id="{65C8A5AC-638B-B3B7-0437-53E4FAD5B6FA}"/>
              </a:ext>
            </a:extLst>
          </p:cNvPr>
          <p:cNvCxnSpPr/>
          <p:nvPr/>
        </p:nvCxnSpPr>
        <p:spPr>
          <a:xfrm>
            <a:off x="1411705" y="2823411"/>
            <a:ext cx="3866148"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218BA34-B8C2-D665-247B-3525E3F1344D}"/>
              </a:ext>
            </a:extLst>
          </p:cNvPr>
          <p:cNvCxnSpPr>
            <a:stCxn id="4" idx="5"/>
            <a:endCxn id="4" idx="1"/>
          </p:cNvCxnSpPr>
          <p:nvPr/>
        </p:nvCxnSpPr>
        <p:spPr>
          <a:xfrm>
            <a:off x="2100088" y="4001294"/>
            <a:ext cx="2523776"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147C51-D351-56E7-F1FE-47DFE2549742}"/>
              </a:ext>
            </a:extLst>
          </p:cNvPr>
          <p:cNvCxnSpPr>
            <a:cxnSpLocks/>
          </p:cNvCxnSpPr>
          <p:nvPr/>
        </p:nvCxnSpPr>
        <p:spPr>
          <a:xfrm>
            <a:off x="2679032" y="4989095"/>
            <a:ext cx="1378618"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251E119-713A-15D0-6771-324D409365AB}"/>
              </a:ext>
            </a:extLst>
          </p:cNvPr>
          <p:cNvSpPr txBox="1"/>
          <p:nvPr/>
        </p:nvSpPr>
        <p:spPr>
          <a:xfrm>
            <a:off x="6723342" y="1957137"/>
            <a:ext cx="4106779" cy="461665"/>
          </a:xfrm>
          <a:prstGeom prst="rect">
            <a:avLst/>
          </a:prstGeom>
          <a:noFill/>
        </p:spPr>
        <p:txBody>
          <a:bodyPr wrap="square" rtlCol="0">
            <a:spAutoFit/>
          </a:bodyPr>
          <a:lstStyle/>
          <a:p>
            <a:pPr algn="ctr"/>
            <a:r>
              <a:rPr lang="en-GB" sz="2400" dirty="0"/>
              <a:t>Awareness</a:t>
            </a:r>
          </a:p>
        </p:txBody>
      </p:sp>
      <p:sp>
        <p:nvSpPr>
          <p:cNvPr id="13" name="TextBox 12">
            <a:extLst>
              <a:ext uri="{FF2B5EF4-FFF2-40B4-BE49-F238E27FC236}">
                <a16:creationId xmlns:a16="http://schemas.microsoft.com/office/drawing/2014/main" id="{49DD371E-5A3D-33CD-29A7-0004DA9E611B}"/>
              </a:ext>
            </a:extLst>
          </p:cNvPr>
          <p:cNvSpPr txBox="1"/>
          <p:nvPr/>
        </p:nvSpPr>
        <p:spPr>
          <a:xfrm>
            <a:off x="6723342" y="3198167"/>
            <a:ext cx="4106779" cy="461665"/>
          </a:xfrm>
          <a:prstGeom prst="rect">
            <a:avLst/>
          </a:prstGeom>
          <a:noFill/>
        </p:spPr>
        <p:txBody>
          <a:bodyPr wrap="square" rtlCol="0">
            <a:spAutoFit/>
          </a:bodyPr>
          <a:lstStyle/>
          <a:p>
            <a:pPr algn="ctr"/>
            <a:r>
              <a:rPr lang="en-GB" sz="2400" dirty="0"/>
              <a:t>Interest</a:t>
            </a:r>
          </a:p>
        </p:txBody>
      </p:sp>
      <p:sp>
        <p:nvSpPr>
          <p:cNvPr id="14" name="TextBox 13">
            <a:extLst>
              <a:ext uri="{FF2B5EF4-FFF2-40B4-BE49-F238E27FC236}">
                <a16:creationId xmlns:a16="http://schemas.microsoft.com/office/drawing/2014/main" id="{12137E6A-6D52-6097-F9FE-349709356F00}"/>
              </a:ext>
            </a:extLst>
          </p:cNvPr>
          <p:cNvSpPr txBox="1"/>
          <p:nvPr/>
        </p:nvSpPr>
        <p:spPr>
          <a:xfrm>
            <a:off x="6723342" y="4342945"/>
            <a:ext cx="4106779" cy="461665"/>
          </a:xfrm>
          <a:prstGeom prst="rect">
            <a:avLst/>
          </a:prstGeom>
          <a:noFill/>
        </p:spPr>
        <p:txBody>
          <a:bodyPr wrap="square" rtlCol="0">
            <a:spAutoFit/>
          </a:bodyPr>
          <a:lstStyle/>
          <a:p>
            <a:pPr algn="ctr"/>
            <a:r>
              <a:rPr lang="en-GB" sz="2400" dirty="0"/>
              <a:t>Desire</a:t>
            </a:r>
          </a:p>
        </p:txBody>
      </p:sp>
      <p:sp>
        <p:nvSpPr>
          <p:cNvPr id="15" name="TextBox 14">
            <a:extLst>
              <a:ext uri="{FF2B5EF4-FFF2-40B4-BE49-F238E27FC236}">
                <a16:creationId xmlns:a16="http://schemas.microsoft.com/office/drawing/2014/main" id="{79118E94-04B6-DD90-5F84-DAE33EA97971}"/>
              </a:ext>
            </a:extLst>
          </p:cNvPr>
          <p:cNvSpPr txBox="1"/>
          <p:nvPr/>
        </p:nvSpPr>
        <p:spPr>
          <a:xfrm>
            <a:off x="6723342" y="5456962"/>
            <a:ext cx="4106779" cy="461665"/>
          </a:xfrm>
          <a:prstGeom prst="rect">
            <a:avLst/>
          </a:prstGeom>
          <a:noFill/>
        </p:spPr>
        <p:txBody>
          <a:bodyPr wrap="square" rtlCol="0">
            <a:spAutoFit/>
          </a:bodyPr>
          <a:lstStyle/>
          <a:p>
            <a:pPr algn="ctr"/>
            <a:r>
              <a:rPr lang="en-GB" sz="2400" dirty="0"/>
              <a:t>Action</a:t>
            </a:r>
          </a:p>
        </p:txBody>
      </p:sp>
      <p:sp>
        <p:nvSpPr>
          <p:cNvPr id="16" name="TextBox 15">
            <a:extLst>
              <a:ext uri="{FF2B5EF4-FFF2-40B4-BE49-F238E27FC236}">
                <a16:creationId xmlns:a16="http://schemas.microsoft.com/office/drawing/2014/main" id="{65488A05-238C-14CA-2508-5FC90533B937}"/>
              </a:ext>
            </a:extLst>
          </p:cNvPr>
          <p:cNvSpPr txBox="1"/>
          <p:nvPr/>
        </p:nvSpPr>
        <p:spPr>
          <a:xfrm>
            <a:off x="2822408" y="1954987"/>
            <a:ext cx="1098884" cy="707886"/>
          </a:xfrm>
          <a:prstGeom prst="rect">
            <a:avLst/>
          </a:prstGeom>
          <a:noFill/>
        </p:spPr>
        <p:txBody>
          <a:bodyPr wrap="square" rtlCol="0">
            <a:spAutoFit/>
          </a:bodyPr>
          <a:lstStyle/>
          <a:p>
            <a:pPr algn="ctr"/>
            <a:r>
              <a:rPr lang="en-GB" sz="4000" b="1" dirty="0">
                <a:solidFill>
                  <a:schemeClr val="bg1"/>
                </a:solidFill>
              </a:rPr>
              <a:t>A</a:t>
            </a:r>
          </a:p>
        </p:txBody>
      </p:sp>
      <p:sp>
        <p:nvSpPr>
          <p:cNvPr id="17" name="TextBox 16">
            <a:extLst>
              <a:ext uri="{FF2B5EF4-FFF2-40B4-BE49-F238E27FC236}">
                <a16:creationId xmlns:a16="http://schemas.microsoft.com/office/drawing/2014/main" id="{EF637E6D-5137-A09F-797B-BCCFCA4ACBEB}"/>
              </a:ext>
            </a:extLst>
          </p:cNvPr>
          <p:cNvSpPr txBox="1"/>
          <p:nvPr/>
        </p:nvSpPr>
        <p:spPr>
          <a:xfrm>
            <a:off x="2839453" y="3057458"/>
            <a:ext cx="1098884" cy="707886"/>
          </a:xfrm>
          <a:prstGeom prst="rect">
            <a:avLst/>
          </a:prstGeom>
          <a:noFill/>
        </p:spPr>
        <p:txBody>
          <a:bodyPr wrap="square" rtlCol="0">
            <a:spAutoFit/>
          </a:bodyPr>
          <a:lstStyle/>
          <a:p>
            <a:pPr algn="ctr"/>
            <a:r>
              <a:rPr lang="en-GB" sz="4000" b="1" dirty="0">
                <a:solidFill>
                  <a:schemeClr val="bg1"/>
                </a:solidFill>
              </a:rPr>
              <a:t>I</a:t>
            </a:r>
          </a:p>
        </p:txBody>
      </p:sp>
      <p:sp>
        <p:nvSpPr>
          <p:cNvPr id="18" name="TextBox 17">
            <a:extLst>
              <a:ext uri="{FF2B5EF4-FFF2-40B4-BE49-F238E27FC236}">
                <a16:creationId xmlns:a16="http://schemas.microsoft.com/office/drawing/2014/main" id="{C3F6C65F-CD39-DE0F-E301-285D2A7DFEC0}"/>
              </a:ext>
            </a:extLst>
          </p:cNvPr>
          <p:cNvSpPr txBox="1"/>
          <p:nvPr/>
        </p:nvSpPr>
        <p:spPr>
          <a:xfrm>
            <a:off x="2812533" y="4143614"/>
            <a:ext cx="1098884" cy="707886"/>
          </a:xfrm>
          <a:prstGeom prst="rect">
            <a:avLst/>
          </a:prstGeom>
          <a:noFill/>
        </p:spPr>
        <p:txBody>
          <a:bodyPr wrap="square" rtlCol="0">
            <a:spAutoFit/>
          </a:bodyPr>
          <a:lstStyle/>
          <a:p>
            <a:pPr algn="ctr"/>
            <a:r>
              <a:rPr lang="en-GB" sz="4000" b="1" dirty="0">
                <a:solidFill>
                  <a:schemeClr val="bg1"/>
                </a:solidFill>
              </a:rPr>
              <a:t>D</a:t>
            </a:r>
          </a:p>
        </p:txBody>
      </p:sp>
      <p:sp>
        <p:nvSpPr>
          <p:cNvPr id="19" name="TextBox 18">
            <a:extLst>
              <a:ext uri="{FF2B5EF4-FFF2-40B4-BE49-F238E27FC236}">
                <a16:creationId xmlns:a16="http://schemas.microsoft.com/office/drawing/2014/main" id="{0069242E-6828-0CEB-83D5-B79C5F2F231E}"/>
              </a:ext>
            </a:extLst>
          </p:cNvPr>
          <p:cNvSpPr txBox="1"/>
          <p:nvPr/>
        </p:nvSpPr>
        <p:spPr>
          <a:xfrm>
            <a:off x="2812533" y="5195288"/>
            <a:ext cx="1098884" cy="707886"/>
          </a:xfrm>
          <a:prstGeom prst="rect">
            <a:avLst/>
          </a:prstGeom>
          <a:noFill/>
        </p:spPr>
        <p:txBody>
          <a:bodyPr wrap="square" rtlCol="0">
            <a:spAutoFit/>
          </a:bodyPr>
          <a:lstStyle/>
          <a:p>
            <a:pPr algn="ctr"/>
            <a:r>
              <a:rPr lang="en-GB" sz="4000" b="1" dirty="0">
                <a:solidFill>
                  <a:schemeClr val="bg1"/>
                </a:solidFill>
              </a:rPr>
              <a:t>A</a:t>
            </a:r>
          </a:p>
        </p:txBody>
      </p:sp>
      <p:pic>
        <p:nvPicPr>
          <p:cNvPr id="6146" name="Picture 2" descr="Stream Duolingo Bird | Listen to music playlists online for free on  SoundCloud">
            <a:extLst>
              <a:ext uri="{FF2B5EF4-FFF2-40B4-BE49-F238E27FC236}">
                <a16:creationId xmlns:a16="http://schemas.microsoft.com/office/drawing/2014/main" id="{C6A041E5-D19E-8B3B-2EC5-52C866126A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132" y="4913796"/>
            <a:ext cx="1868905" cy="1868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052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ppt_x"/>
                                          </p:val>
                                        </p:tav>
                                        <p:tav tm="100000">
                                          <p:val>
                                            <p:strVal val="#ppt_x"/>
                                          </p:val>
                                        </p:tav>
                                      </p:tavLst>
                                    </p:anim>
                                    <p:anim calcmode="lin" valueType="num">
                                      <p:cBhvr additive="base">
                                        <p:cTn id="2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EF323-A37C-B20D-E6FC-9AC8955586E6}"/>
              </a:ext>
            </a:extLst>
          </p:cNvPr>
          <p:cNvSpPr>
            <a:spLocks noGrp="1"/>
          </p:cNvSpPr>
          <p:nvPr>
            <p:ph type="title"/>
          </p:nvPr>
        </p:nvSpPr>
        <p:spPr/>
        <p:txBody>
          <a:bodyPr/>
          <a:lstStyle/>
          <a:p>
            <a:r>
              <a:rPr lang="en-GB" dirty="0"/>
              <a:t>Communications Strategy</a:t>
            </a:r>
          </a:p>
        </p:txBody>
      </p:sp>
      <p:graphicFrame>
        <p:nvGraphicFramePr>
          <p:cNvPr id="4" name="Table 3">
            <a:extLst>
              <a:ext uri="{FF2B5EF4-FFF2-40B4-BE49-F238E27FC236}">
                <a16:creationId xmlns:a16="http://schemas.microsoft.com/office/drawing/2014/main" id="{8923961E-C25C-B596-9731-C1DC72866162}"/>
              </a:ext>
            </a:extLst>
          </p:cNvPr>
          <p:cNvGraphicFramePr>
            <a:graphicFrameLocks noGrp="1"/>
          </p:cNvGraphicFramePr>
          <p:nvPr>
            <p:extLst>
              <p:ext uri="{D42A27DB-BD31-4B8C-83A1-F6EECF244321}">
                <p14:modId xmlns:p14="http://schemas.microsoft.com/office/powerpoint/2010/main" val="3364976334"/>
              </p:ext>
            </p:extLst>
          </p:nvPr>
        </p:nvGraphicFramePr>
        <p:xfrm>
          <a:off x="838200" y="1690688"/>
          <a:ext cx="10515600" cy="2382520"/>
        </p:xfrm>
        <a:graphic>
          <a:graphicData uri="http://schemas.openxmlformats.org/drawingml/2006/table">
            <a:tbl>
              <a:tblPr firstRow="1" bandRow="1">
                <a:tableStyleId>{08FB837D-C827-4EFA-A057-4D05807E0F7C}</a:tableStyleId>
              </a:tblPr>
              <a:tblGrid>
                <a:gridCol w="3505200">
                  <a:extLst>
                    <a:ext uri="{9D8B030D-6E8A-4147-A177-3AD203B41FA5}">
                      <a16:colId xmlns:a16="http://schemas.microsoft.com/office/drawing/2014/main" val="1311285400"/>
                    </a:ext>
                  </a:extLst>
                </a:gridCol>
                <a:gridCol w="3505200">
                  <a:extLst>
                    <a:ext uri="{9D8B030D-6E8A-4147-A177-3AD203B41FA5}">
                      <a16:colId xmlns:a16="http://schemas.microsoft.com/office/drawing/2014/main" val="827328974"/>
                    </a:ext>
                  </a:extLst>
                </a:gridCol>
                <a:gridCol w="3505200">
                  <a:extLst>
                    <a:ext uri="{9D8B030D-6E8A-4147-A177-3AD203B41FA5}">
                      <a16:colId xmlns:a16="http://schemas.microsoft.com/office/drawing/2014/main" val="3646487542"/>
                    </a:ext>
                  </a:extLst>
                </a:gridCol>
              </a:tblGrid>
              <a:tr h="370840">
                <a:tc>
                  <a:txBody>
                    <a:bodyPr/>
                    <a:lstStyle/>
                    <a:p>
                      <a:pPr algn="ctr"/>
                      <a:r>
                        <a:rPr lang="en-GB" dirty="0"/>
                        <a:t>Paid</a:t>
                      </a:r>
                    </a:p>
                  </a:txBody>
                  <a:tcPr/>
                </a:tc>
                <a:tc>
                  <a:txBody>
                    <a:bodyPr/>
                    <a:lstStyle/>
                    <a:p>
                      <a:pPr algn="ctr"/>
                      <a:r>
                        <a:rPr lang="en-GB" dirty="0"/>
                        <a:t>Owned</a:t>
                      </a:r>
                    </a:p>
                  </a:txBody>
                  <a:tcPr/>
                </a:tc>
                <a:tc>
                  <a:txBody>
                    <a:bodyPr/>
                    <a:lstStyle/>
                    <a:p>
                      <a:pPr algn="ctr"/>
                      <a:r>
                        <a:rPr lang="en-GB" dirty="0"/>
                        <a:t>Earned</a:t>
                      </a:r>
                    </a:p>
                  </a:txBody>
                  <a:tcPr/>
                </a:tc>
                <a:extLst>
                  <a:ext uri="{0D108BD9-81ED-4DB2-BD59-A6C34878D82A}">
                    <a16:rowId xmlns:a16="http://schemas.microsoft.com/office/drawing/2014/main" val="770746318"/>
                  </a:ext>
                </a:extLst>
              </a:tr>
              <a:tr h="370840">
                <a:tc>
                  <a:txBody>
                    <a:bodyPr/>
                    <a:lstStyle/>
                    <a:p>
                      <a:pPr marL="285750" indent="-285750">
                        <a:buFont typeface="Arial" panose="020B0604020202020204" pitchFamily="34" charset="0"/>
                        <a:buChar char="•"/>
                      </a:pPr>
                      <a:r>
                        <a:rPr lang="en-GB" dirty="0"/>
                        <a:t>YouTube Adverts</a:t>
                      </a:r>
                    </a:p>
                    <a:p>
                      <a:pPr marL="285750" indent="-285750">
                        <a:buFont typeface="Arial" panose="020B0604020202020204" pitchFamily="34" charset="0"/>
                        <a:buChar char="•"/>
                      </a:pPr>
                      <a:r>
                        <a:rPr lang="en-GB" dirty="0"/>
                        <a:t>Travel/Family influencers</a:t>
                      </a:r>
                    </a:p>
                    <a:p>
                      <a:pPr marL="285750" indent="-285750">
                        <a:buFont typeface="Arial" panose="020B0604020202020204" pitchFamily="34" charset="0"/>
                        <a:buChar char="•"/>
                      </a:pPr>
                      <a:r>
                        <a:rPr lang="en-GB" dirty="0"/>
                        <a:t>TV Adverts</a:t>
                      </a:r>
                    </a:p>
                    <a:p>
                      <a:pPr marL="285750" indent="-285750">
                        <a:buFont typeface="Arial" panose="020B0604020202020204" pitchFamily="34" charset="0"/>
                        <a:buChar char="•"/>
                      </a:pPr>
                      <a:r>
                        <a:rPr lang="en-GB" dirty="0"/>
                        <a:t>Bus/Bus stop Adverts</a:t>
                      </a:r>
                    </a:p>
                    <a:p>
                      <a:pPr marL="285750" indent="-285750">
                        <a:buFont typeface="Arial" panose="020B0604020202020204" pitchFamily="34" charset="0"/>
                        <a:buChar char="•"/>
                      </a:pPr>
                      <a:r>
                        <a:rPr lang="en-GB" dirty="0"/>
                        <a:t>Train advertisement </a:t>
                      </a:r>
                    </a:p>
                    <a:p>
                      <a:pPr marL="285750" indent="-285750">
                        <a:buFont typeface="Arial" panose="020B0604020202020204" pitchFamily="34" charset="0"/>
                        <a:buChar char="•"/>
                      </a:pPr>
                      <a:r>
                        <a:rPr lang="en-GB" dirty="0"/>
                        <a:t>Flyers/Post</a:t>
                      </a:r>
                    </a:p>
                  </a:txBody>
                  <a:tcPr/>
                </a:tc>
                <a:tc>
                  <a:txBody>
                    <a:bodyPr/>
                    <a:lstStyle/>
                    <a:p>
                      <a:pPr marL="285750" indent="-285750">
                        <a:buFont typeface="Arial" panose="020B0604020202020204" pitchFamily="34" charset="0"/>
                        <a:buChar char="•"/>
                      </a:pPr>
                      <a:r>
                        <a:rPr lang="en-GB" dirty="0"/>
                        <a:t>YouTube Channel</a:t>
                      </a:r>
                    </a:p>
                    <a:p>
                      <a:pPr marL="285750" indent="-285750">
                        <a:buFont typeface="Arial" panose="020B0604020202020204" pitchFamily="34" charset="0"/>
                        <a:buChar char="•"/>
                      </a:pPr>
                      <a:r>
                        <a:rPr lang="en-GB" dirty="0"/>
                        <a:t>Instagram</a:t>
                      </a:r>
                    </a:p>
                    <a:p>
                      <a:pPr marL="285750" indent="-285750">
                        <a:buFont typeface="Arial" panose="020B0604020202020204" pitchFamily="34" charset="0"/>
                        <a:buChar char="•"/>
                      </a:pPr>
                      <a:r>
                        <a:rPr lang="en-GB" dirty="0"/>
                        <a:t>Tik Tok</a:t>
                      </a:r>
                    </a:p>
                    <a:p>
                      <a:pPr marL="285750" indent="-285750">
                        <a:buFont typeface="Arial" panose="020B0604020202020204" pitchFamily="34" charset="0"/>
                        <a:buChar char="•"/>
                      </a:pPr>
                      <a:r>
                        <a:rPr lang="en-GB" dirty="0"/>
                        <a:t>X/Twitter</a:t>
                      </a:r>
                    </a:p>
                    <a:p>
                      <a:pPr marL="285750" indent="-285750">
                        <a:buFont typeface="Arial" panose="020B0604020202020204" pitchFamily="34" charset="0"/>
                        <a:buChar char="•"/>
                      </a:pPr>
                      <a:r>
                        <a:rPr lang="en-GB" dirty="0"/>
                        <a:t>Blogs/Articles</a:t>
                      </a:r>
                    </a:p>
                    <a:p>
                      <a:pPr marL="285750" indent="-285750">
                        <a:buFont typeface="Arial" panose="020B0604020202020204" pitchFamily="34" charset="0"/>
                        <a:buChar char="•"/>
                      </a:pPr>
                      <a:r>
                        <a:rPr lang="en-GB" dirty="0"/>
                        <a:t>Website </a:t>
                      </a:r>
                    </a:p>
                    <a:p>
                      <a:pPr marL="285750" indent="-285750">
                        <a:buFont typeface="Arial" panose="020B0604020202020204" pitchFamily="34" charset="0"/>
                        <a:buChar char="•"/>
                      </a:pPr>
                      <a:r>
                        <a:rPr lang="en-GB" dirty="0"/>
                        <a:t>SEO</a:t>
                      </a:r>
                    </a:p>
                  </a:txBody>
                  <a:tcPr/>
                </a:tc>
                <a:tc>
                  <a:txBody>
                    <a:bodyPr/>
                    <a:lstStyle/>
                    <a:p>
                      <a:pPr marL="285750" indent="-285750">
                        <a:buFont typeface="Arial" panose="020B0604020202020204" pitchFamily="34" charset="0"/>
                        <a:buChar char="•"/>
                      </a:pPr>
                      <a:r>
                        <a:rPr lang="en-GB" dirty="0"/>
                        <a:t>Word of mouth</a:t>
                      </a:r>
                    </a:p>
                    <a:p>
                      <a:pPr marL="285750" indent="-285750">
                        <a:buFont typeface="Arial" panose="020B0604020202020204" pitchFamily="34" charset="0"/>
                        <a:buChar char="•"/>
                      </a:pPr>
                      <a:r>
                        <a:rPr lang="en-GB" dirty="0"/>
                        <a:t>Blog posts</a:t>
                      </a:r>
                    </a:p>
                    <a:p>
                      <a:pPr marL="285750" indent="-285750">
                        <a:buFont typeface="Arial" panose="020B0604020202020204" pitchFamily="34" charset="0"/>
                        <a:buChar char="•"/>
                      </a:pPr>
                      <a:r>
                        <a:rPr lang="en-GB" dirty="0"/>
                        <a:t>Fan communication via socials</a:t>
                      </a:r>
                    </a:p>
                    <a:p>
                      <a:pPr marL="285750" indent="-285750">
                        <a:buFont typeface="Arial" panose="020B0604020202020204" pitchFamily="34" charset="0"/>
                        <a:buChar char="•"/>
                      </a:pPr>
                      <a:r>
                        <a:rPr lang="en-GB" dirty="0"/>
                        <a:t>News</a:t>
                      </a:r>
                    </a:p>
                    <a:p>
                      <a:pPr marL="285750" indent="-285750">
                        <a:buFont typeface="Arial" panose="020B0604020202020204" pitchFamily="34" charset="0"/>
                        <a:buChar char="•"/>
                      </a:pPr>
                      <a:r>
                        <a:rPr lang="en-GB" dirty="0"/>
                        <a:t>Social Media discussion</a:t>
                      </a:r>
                    </a:p>
                    <a:p>
                      <a:pPr marL="285750" indent="-285750">
                        <a:buFont typeface="Arial" panose="020B0604020202020204" pitchFamily="34" charset="0"/>
                        <a:buChar char="•"/>
                      </a:pPr>
                      <a:endParaRPr lang="en-GB" dirty="0"/>
                    </a:p>
                  </a:txBody>
                  <a:tcPr/>
                </a:tc>
                <a:extLst>
                  <a:ext uri="{0D108BD9-81ED-4DB2-BD59-A6C34878D82A}">
                    <a16:rowId xmlns:a16="http://schemas.microsoft.com/office/drawing/2014/main" val="1626436991"/>
                  </a:ext>
                </a:extLst>
              </a:tr>
            </a:tbl>
          </a:graphicData>
        </a:graphic>
      </p:graphicFrame>
    </p:spTree>
    <p:extLst>
      <p:ext uri="{BB962C8B-B14F-4D97-AF65-F5344CB8AC3E}">
        <p14:creationId xmlns:p14="http://schemas.microsoft.com/office/powerpoint/2010/main" val="15182874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5E965-3C6C-97E6-5671-3BC742F98D6B}"/>
              </a:ext>
            </a:extLst>
          </p:cNvPr>
          <p:cNvSpPr>
            <a:spLocks noGrp="1"/>
          </p:cNvSpPr>
          <p:nvPr>
            <p:ph type="title"/>
          </p:nvPr>
        </p:nvSpPr>
        <p:spPr/>
        <p:txBody>
          <a:bodyPr/>
          <a:lstStyle/>
          <a:p>
            <a:r>
              <a:rPr lang="en-GB" dirty="0"/>
              <a:t>Evaluation</a:t>
            </a:r>
          </a:p>
        </p:txBody>
      </p:sp>
      <p:sp>
        <p:nvSpPr>
          <p:cNvPr id="3" name="Content Placeholder 2">
            <a:extLst>
              <a:ext uri="{FF2B5EF4-FFF2-40B4-BE49-F238E27FC236}">
                <a16:creationId xmlns:a16="http://schemas.microsoft.com/office/drawing/2014/main" id="{19E04924-3E0E-CBA7-1E0B-9E4C620FA7C8}"/>
              </a:ext>
            </a:extLst>
          </p:cNvPr>
          <p:cNvSpPr>
            <a:spLocks noGrp="1"/>
          </p:cNvSpPr>
          <p:nvPr>
            <p:ph idx="1"/>
          </p:nvPr>
        </p:nvSpPr>
        <p:spPr/>
        <p:txBody>
          <a:bodyPr>
            <a:normAutofit lnSpcReduction="10000"/>
          </a:bodyPr>
          <a:lstStyle/>
          <a:p>
            <a:r>
              <a:rPr lang="en-GB" dirty="0"/>
              <a:t>Insights</a:t>
            </a:r>
          </a:p>
          <a:p>
            <a:endParaRPr lang="en-GB" dirty="0"/>
          </a:p>
          <a:p>
            <a:r>
              <a:rPr lang="en-GB" dirty="0"/>
              <a:t>Website Tracking (Dashboards)</a:t>
            </a:r>
          </a:p>
          <a:p>
            <a:endParaRPr lang="en-GB" dirty="0"/>
          </a:p>
          <a:p>
            <a:r>
              <a:rPr lang="en-GB" dirty="0"/>
              <a:t>App downloads</a:t>
            </a:r>
          </a:p>
          <a:p>
            <a:endParaRPr lang="en-GB" dirty="0"/>
          </a:p>
          <a:p>
            <a:r>
              <a:rPr lang="en-GB" dirty="0"/>
              <a:t>Subscription breakdowns</a:t>
            </a:r>
          </a:p>
          <a:p>
            <a:endParaRPr lang="en-GB" dirty="0"/>
          </a:p>
          <a:p>
            <a:r>
              <a:rPr lang="en-GB" dirty="0"/>
              <a:t>Social media discussion </a:t>
            </a:r>
          </a:p>
        </p:txBody>
      </p:sp>
      <p:pic>
        <p:nvPicPr>
          <p:cNvPr id="8194" name="Picture 2" descr="Duolingo New Learning Path Update - HONEST Review - duoplanet">
            <a:extLst>
              <a:ext uri="{FF2B5EF4-FFF2-40B4-BE49-F238E27FC236}">
                <a16:creationId xmlns:a16="http://schemas.microsoft.com/office/drawing/2014/main" id="{9AD9A7A8-4737-364D-1CB1-12E95362AFF1}"/>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10000" b="90000" l="10000" r="90000">
                        <a14:foregroundMark x1="42320" y1="60171" x2="42320" y2="60171"/>
                        <a14:foregroundMark x1="50640" y1="73542" x2="50640" y2="73542"/>
                        <a14:foregroundMark x1="57840" y1="73542" x2="57840" y2="73542"/>
                        <a14:foregroundMark x1="41120" y1="23471" x2="41120" y2="23471"/>
                        <a14:foregroundMark x1="38720" y1="41963" x2="38720" y2="41963"/>
                        <a14:foregroundMark x1="58480" y1="40683" x2="58480" y2="40683"/>
                        <a14:foregroundMark x1="62560" y1="50782" x2="62560" y2="50782"/>
                        <a14:foregroundMark x1="64160" y1="64154" x2="64160" y2="64154"/>
                        <a14:foregroundMark x1="66720" y1="70413" x2="66720" y2="70413"/>
                        <a14:foregroundMark x1="41520" y1="70697" x2="41520" y2="70697"/>
                        <a14:foregroundMark x1="36960" y1="60171" x2="36960" y2="60171"/>
                        <a14:foregroundMark x1="32480" y1="43812" x2="32480" y2="43812"/>
                        <a14:foregroundMark x1="60640" y1="31579" x2="60640" y2="31579"/>
                        <a14:foregroundMark x1="53920" y1="38265" x2="53920" y2="38265"/>
                      </a14:backgroundRemoval>
                    </a14:imgEffect>
                  </a14:imgLayer>
                </a14:imgProps>
              </a:ext>
              <a:ext uri="{28A0092B-C50C-407E-A947-70E740481C1C}">
                <a14:useLocalDpi xmlns:a14="http://schemas.microsoft.com/office/drawing/2010/main" val="0"/>
              </a:ext>
            </a:extLst>
          </a:blip>
          <a:srcRect l="30463" t="16519" r="26286" b="18497"/>
          <a:stretch/>
        </p:blipFill>
        <p:spPr bwMode="auto">
          <a:xfrm>
            <a:off x="7459580" y="2506662"/>
            <a:ext cx="5149516" cy="4351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3822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0D925-2EC4-B085-BB1B-C37B00B432C6}"/>
              </a:ext>
            </a:extLst>
          </p:cNvPr>
          <p:cNvSpPr>
            <a:spLocks noGrp="1"/>
          </p:cNvSpPr>
          <p:nvPr>
            <p:ph type="title"/>
          </p:nvPr>
        </p:nvSpPr>
        <p:spPr/>
        <p:txBody>
          <a:bodyPr/>
          <a:lstStyle/>
          <a:p>
            <a:r>
              <a:rPr lang="en-GB" dirty="0"/>
              <a:t>References</a:t>
            </a:r>
          </a:p>
        </p:txBody>
      </p:sp>
      <p:sp>
        <p:nvSpPr>
          <p:cNvPr id="3" name="Content Placeholder 2">
            <a:extLst>
              <a:ext uri="{FF2B5EF4-FFF2-40B4-BE49-F238E27FC236}">
                <a16:creationId xmlns:a16="http://schemas.microsoft.com/office/drawing/2014/main" id="{3B44B139-9E73-9336-5982-9114E70B3A57}"/>
              </a:ext>
            </a:extLst>
          </p:cNvPr>
          <p:cNvSpPr>
            <a:spLocks noGrp="1"/>
          </p:cNvSpPr>
          <p:nvPr>
            <p:ph idx="1"/>
          </p:nvPr>
        </p:nvSpPr>
        <p:spPr/>
        <p:txBody>
          <a:bodyPr>
            <a:normAutofit fontScale="25000" lnSpcReduction="20000"/>
          </a:bodyPr>
          <a:lstStyle/>
          <a:p>
            <a:r>
              <a:rPr lang="en-GB" dirty="0"/>
              <a:t>ABTA The Travel Association (2024) Holiday Habits 2023-24, </a:t>
            </a:r>
            <a:r>
              <a:rPr lang="en-GB" i="1" dirty="0"/>
              <a:t>ABTA The Travel Association </a:t>
            </a:r>
            <a:r>
              <a:rPr lang="en-GB" dirty="0"/>
              <a:t>(2024 Version)</a:t>
            </a:r>
            <a:r>
              <a:rPr lang="en-GB" i="1" dirty="0"/>
              <a:t> </a:t>
            </a:r>
            <a:r>
              <a:rPr lang="en-GB" dirty="0"/>
              <a:t>[online]. Available from: </a:t>
            </a:r>
            <a:r>
              <a:rPr lang="en-GB" dirty="0">
                <a:hlinkClick r:id="rId2"/>
              </a:rPr>
              <a:t>https://www.abta.com/sites/default/files/media/document/uploads/ABTA%20Holiday%20Habits%202023-24.pdf</a:t>
            </a:r>
            <a:r>
              <a:rPr lang="en-GB" dirty="0"/>
              <a:t> [Accessed 28 November 2024].</a:t>
            </a:r>
          </a:p>
          <a:p>
            <a:r>
              <a:rPr lang="en-GB" dirty="0" err="1"/>
              <a:t>Blacno</a:t>
            </a:r>
            <a:r>
              <a:rPr lang="en-GB" dirty="0"/>
              <a:t>, C. (2022) 2022 </a:t>
            </a:r>
            <a:r>
              <a:rPr lang="en-GB" dirty="0" err="1"/>
              <a:t>duolingo</a:t>
            </a:r>
            <a:r>
              <a:rPr lang="en-GB" dirty="0"/>
              <a:t> language report. </a:t>
            </a:r>
            <a:r>
              <a:rPr lang="en-GB" i="1" dirty="0"/>
              <a:t>Duolingo blog </a:t>
            </a:r>
            <a:r>
              <a:rPr lang="en-GB" dirty="0"/>
              <a:t>[blog]. 06 December. Available from: </a:t>
            </a:r>
            <a:r>
              <a:rPr lang="en-GB" dirty="0">
                <a:hlinkClick r:id="rId3"/>
              </a:rPr>
              <a:t>https://blog.duolingo.com/2022-duolingo-language-report/</a:t>
            </a:r>
            <a:r>
              <a:rPr lang="en-GB" dirty="0"/>
              <a:t> [Accessed 26 November 2024].</a:t>
            </a:r>
          </a:p>
          <a:p>
            <a:r>
              <a:rPr lang="en-GB" dirty="0"/>
              <a:t>Blanco, C. (2023) 2023 </a:t>
            </a:r>
            <a:r>
              <a:rPr lang="en-GB" dirty="0" err="1"/>
              <a:t>duolingo</a:t>
            </a:r>
            <a:r>
              <a:rPr lang="en-GB" dirty="0"/>
              <a:t> language report. </a:t>
            </a:r>
            <a:r>
              <a:rPr lang="en-GB" i="1" dirty="0"/>
              <a:t>Duolingo blog </a:t>
            </a:r>
            <a:r>
              <a:rPr lang="en-GB" dirty="0"/>
              <a:t>[blog]. 04 December. Available from: </a:t>
            </a:r>
            <a:r>
              <a:rPr lang="en-GB" dirty="0">
                <a:hlinkClick r:id="rId4"/>
              </a:rPr>
              <a:t>https://blog.duolingo.com/2023-duolingo-language-report/</a:t>
            </a:r>
            <a:r>
              <a:rPr lang="en-GB" dirty="0"/>
              <a:t> [Accessed 26 November 2024].</a:t>
            </a:r>
          </a:p>
          <a:p>
            <a:r>
              <a:rPr lang="en-GB" dirty="0"/>
              <a:t>CBM. (2024) Mission, Vision &amp; Core Values of Duolingo. </a:t>
            </a:r>
            <a:r>
              <a:rPr lang="en-GB" i="1" dirty="0"/>
              <a:t>CBM </a:t>
            </a:r>
            <a:r>
              <a:rPr lang="en-GB" dirty="0"/>
              <a:t>[blog]. 02 October. Available from: </a:t>
            </a:r>
            <a:r>
              <a:rPr lang="en-GB" dirty="0">
                <a:hlinkClick r:id="rId5"/>
              </a:rPr>
              <a:t>https://canvasbusinessmodel.com/blogs/mission/duolingo-mission#:~:text=Duolingo%20Mission%20Statement%3A%20To%20make,Inclusivity%2C%20Accessibility%2C%20and%20Impact</a:t>
            </a:r>
            <a:r>
              <a:rPr lang="en-GB" dirty="0"/>
              <a:t>. [Accessed 04 December 2024].</a:t>
            </a:r>
          </a:p>
          <a:p>
            <a:r>
              <a:rPr lang="en-GB" dirty="0"/>
              <a:t>CIM (2015) A brief summary of marketing and how it works. </a:t>
            </a:r>
            <a:r>
              <a:rPr lang="en-GB" i="1" dirty="0"/>
              <a:t>Marketing and the 7Ps </a:t>
            </a:r>
            <a:r>
              <a:rPr lang="en-GB" dirty="0"/>
              <a:t>[online]. pp. 1-12. [Accessed 01 October 2024].</a:t>
            </a:r>
          </a:p>
          <a:p>
            <a:r>
              <a:rPr lang="en-GB" dirty="0"/>
              <a:t>Hanlon, A. (2023) The AIDA model. </a:t>
            </a:r>
            <a:r>
              <a:rPr lang="en-GB" i="1" dirty="0" err="1"/>
              <a:t>Smartinsights</a:t>
            </a:r>
            <a:r>
              <a:rPr lang="en-GB" i="1" dirty="0"/>
              <a:t> </a:t>
            </a:r>
            <a:r>
              <a:rPr lang="en-GB" dirty="0"/>
              <a:t>[blog]. 20 March. Available from: </a:t>
            </a:r>
            <a:r>
              <a:rPr lang="en-GB" dirty="0">
                <a:hlinkClick r:id="rId6"/>
              </a:rPr>
              <a:t>https://www.smartinsights.com/traffic-building-strategy/offer-and-message-development/aida-model/</a:t>
            </a:r>
            <a:r>
              <a:rPr lang="en-GB" dirty="0"/>
              <a:t> [Accessed 10 December 2024].</a:t>
            </a:r>
          </a:p>
          <a:p>
            <a:r>
              <a:rPr lang="en-GB" dirty="0"/>
              <a:t>Hawker, K. (2019) Keller’s Brand </a:t>
            </a:r>
            <a:r>
              <a:rPr lang="en-GB" dirty="0" err="1"/>
              <a:t>Equiity</a:t>
            </a:r>
            <a:r>
              <a:rPr lang="en-GB" dirty="0"/>
              <a:t> Model – What It Is &amp; How to Use It. </a:t>
            </a:r>
            <a:r>
              <a:rPr lang="en-GB" i="1" dirty="0"/>
              <a:t>Medium </a:t>
            </a:r>
            <a:r>
              <a:rPr lang="en-GB" dirty="0"/>
              <a:t>[blog]. 26 September. Available from: </a:t>
            </a:r>
            <a:r>
              <a:rPr lang="en-GB" dirty="0">
                <a:hlinkClick r:id="rId7"/>
              </a:rPr>
              <a:t>https://medium.com/@keatonhawker/kellers-brand-equity-model-what-it-is-how-to-use-it-84e42d562299</a:t>
            </a:r>
            <a:r>
              <a:rPr lang="en-GB" dirty="0"/>
              <a:t> [Accessed 08 December 2024].</a:t>
            </a:r>
          </a:p>
          <a:p>
            <a:r>
              <a:rPr lang="en-GB" dirty="0"/>
              <a:t>Indeed Editorial Team (2024). What Are AIDA Pros and Cons? (With Tips and Definitions). </a:t>
            </a:r>
            <a:r>
              <a:rPr lang="en-GB" i="1" dirty="0"/>
              <a:t>Career Development </a:t>
            </a:r>
            <a:r>
              <a:rPr lang="en-GB" dirty="0"/>
              <a:t>[blog]. 02 July. Available from: </a:t>
            </a:r>
            <a:r>
              <a:rPr lang="en-GB" dirty="0">
                <a:hlinkClick r:id="rId8"/>
              </a:rPr>
              <a:t>https://ca.indeed.com/career-advice/career-development/aida-pros-and-cons</a:t>
            </a:r>
            <a:r>
              <a:rPr lang="en-GB" dirty="0"/>
              <a:t> [Accessed 10 December 2024].</a:t>
            </a:r>
          </a:p>
          <a:p>
            <a:r>
              <a:rPr lang="en-GB" dirty="0"/>
              <a:t>McCarthy, E. Jerome (1960), </a:t>
            </a:r>
            <a:r>
              <a:rPr lang="en-GB" i="1" dirty="0"/>
              <a:t>Basic Marketing: A Managerial Approach </a:t>
            </a:r>
            <a:r>
              <a:rPr lang="en-GB" dirty="0"/>
              <a:t>[online]</a:t>
            </a:r>
            <a:r>
              <a:rPr lang="en-GB" i="1" dirty="0"/>
              <a:t>. </a:t>
            </a:r>
            <a:r>
              <a:rPr lang="en-GB" dirty="0"/>
              <a:t>Homewood, </a:t>
            </a:r>
            <a:r>
              <a:rPr lang="en-GB" dirty="0" err="1"/>
              <a:t>IL:Richard</a:t>
            </a:r>
            <a:r>
              <a:rPr lang="en-GB" dirty="0"/>
              <a:t> D. Irwin, Inc. [Accessed 02 October 2024].</a:t>
            </a:r>
          </a:p>
          <a:p>
            <a:r>
              <a:rPr lang="en-GB" dirty="0"/>
              <a:t>McLeod, S. (2024) Maslow’s Hierarchy of Needs. </a:t>
            </a:r>
            <a:r>
              <a:rPr lang="en-GB" i="1" dirty="0"/>
              <a:t>Psychology </a:t>
            </a:r>
            <a:r>
              <a:rPr lang="en-GB" dirty="0"/>
              <a:t>[blog]. 24 January. Available from: </a:t>
            </a:r>
            <a:r>
              <a:rPr lang="en-GB" dirty="0">
                <a:hlinkClick r:id="rId9"/>
              </a:rPr>
              <a:t>https://www.simplypsychology.org/maslow.html</a:t>
            </a:r>
            <a:r>
              <a:rPr lang="en-GB" dirty="0"/>
              <a:t> [Accessed 08 December 2024].</a:t>
            </a:r>
          </a:p>
          <a:p>
            <a:r>
              <a:rPr lang="en-GB" dirty="0"/>
              <a:t>Mu, J. (2015) Marketing capability, organizational adaptation and new product development performance, </a:t>
            </a:r>
            <a:r>
              <a:rPr lang="en-GB" i="1" dirty="0"/>
              <a:t>Industrial Marketing Management</a:t>
            </a:r>
            <a:r>
              <a:rPr lang="en-GB" dirty="0"/>
              <a:t>, 49, 151-166. [Accessed 02 October 2024].</a:t>
            </a:r>
          </a:p>
          <a:p>
            <a:r>
              <a:rPr lang="en-GB" dirty="0"/>
              <a:t>Ofcom (2017). Adults’ Media Use and Attitudes report, </a:t>
            </a:r>
            <a:r>
              <a:rPr lang="en-GB" i="1" dirty="0"/>
              <a:t>Ofcom </a:t>
            </a:r>
            <a:r>
              <a:rPr lang="en-GB" dirty="0"/>
              <a:t>(2017 Version) [online]. Available from: </a:t>
            </a:r>
            <a:r>
              <a:rPr lang="en-GB" dirty="0">
                <a:hlinkClick r:id="rId10"/>
              </a:rPr>
              <a:t>https://www.ofcom.org.uk/siteassets/resources/documents/research-and-data/media-literacy-research/adults/adults-literacy-2017/section-9-newer-narrow-non-users-internet.pdf?v=322533</a:t>
            </a:r>
            <a:r>
              <a:rPr lang="en-GB" dirty="0"/>
              <a:t> [Accessed 05 December 2024].</a:t>
            </a:r>
          </a:p>
          <a:p>
            <a:r>
              <a:rPr lang="en-GB" dirty="0"/>
              <a:t>Ofcom (2022). Adults’ Media Use and Attitudes report, </a:t>
            </a:r>
            <a:r>
              <a:rPr lang="en-GB" i="1" dirty="0"/>
              <a:t>Ofcom </a:t>
            </a:r>
            <a:r>
              <a:rPr lang="en-GB" dirty="0"/>
              <a:t>(2022 Version) [online]. Available from: </a:t>
            </a:r>
            <a:r>
              <a:rPr lang="en-GB" dirty="0">
                <a:hlinkClick r:id="rId11"/>
              </a:rPr>
              <a:t>https://www.ofcom.org.uk/siteassets/resources/documents/research-and-data/media-literacy-research/adults/adults-media-use-and-attitudes-2022/adults-media-use-and-attitudes-report-2022.pdf?v=327649</a:t>
            </a:r>
            <a:r>
              <a:rPr lang="en-GB" dirty="0"/>
              <a:t> [Accessed 05 December 2024].</a:t>
            </a:r>
          </a:p>
          <a:p>
            <a:r>
              <a:rPr lang="en-GB" dirty="0"/>
              <a:t>Ofcom. (2024). Gen Z swerves traditional broadcast TV as less than half tune in weekly. </a:t>
            </a:r>
            <a:r>
              <a:rPr lang="en-GB" i="1" dirty="0"/>
              <a:t>Media use and attitudes </a:t>
            </a:r>
            <a:r>
              <a:rPr lang="en-GB" dirty="0"/>
              <a:t>[online]. [Accessed 05 December 2024].</a:t>
            </a:r>
          </a:p>
          <a:p>
            <a:r>
              <a:rPr lang="en-GB" dirty="0"/>
              <a:t>Office for National Statistics (2024) Travel Trends: 2023. </a:t>
            </a:r>
            <a:r>
              <a:rPr lang="en-GB" i="1" dirty="0"/>
              <a:t>Travel Trends </a:t>
            </a:r>
            <a:r>
              <a:rPr lang="en-GB" dirty="0"/>
              <a:t>[online]. [Accessed 28 November 2024].</a:t>
            </a:r>
          </a:p>
          <a:p>
            <a:r>
              <a:rPr lang="en-GB" dirty="0" err="1"/>
              <a:t>Panlgrahl</a:t>
            </a:r>
            <a:r>
              <a:rPr lang="en-GB" dirty="0"/>
              <a:t>, S. (2024) Duolingo’s Social Media Strategy: A Shockingly Hilarious Adventure. </a:t>
            </a:r>
            <a:r>
              <a:rPr lang="en-GB" i="1" dirty="0"/>
              <a:t>Keyhole </a:t>
            </a:r>
            <a:r>
              <a:rPr lang="en-GB" dirty="0"/>
              <a:t>[blog]. 28 February. Available from: </a:t>
            </a:r>
            <a:r>
              <a:rPr lang="en-GB" dirty="0">
                <a:hlinkClick r:id="rId12"/>
              </a:rPr>
              <a:t>https://keyhole.co/blog/duolingo-social-media-strategy/#:~:text=Duolingo%20targeted%20an%20audience%20that,group%20of%2016%20to%2034</a:t>
            </a:r>
            <a:r>
              <a:rPr lang="en-GB" dirty="0"/>
              <a:t> [Accessed 26 November 2024].</a:t>
            </a:r>
          </a:p>
          <a:p>
            <a:r>
              <a:rPr lang="en-GB" dirty="0" err="1"/>
              <a:t>Radavicius</a:t>
            </a:r>
            <a:r>
              <a:rPr lang="en-GB" dirty="0"/>
              <a:t>, T and Sachdeva, A.R. (2023) Defining Your Target Audience: Showcasing with Examples. </a:t>
            </a:r>
            <a:r>
              <a:rPr lang="en-GB" i="1" dirty="0"/>
              <a:t>Sender </a:t>
            </a:r>
            <a:r>
              <a:rPr lang="en-GB" dirty="0"/>
              <a:t>[blog]. 16 August. Available from: </a:t>
            </a:r>
            <a:r>
              <a:rPr lang="en-GB" dirty="0">
                <a:hlinkClick r:id="rId13"/>
              </a:rPr>
              <a:t>https://www.sender.net/blog/target-audience/</a:t>
            </a:r>
            <a:r>
              <a:rPr lang="en-GB" dirty="0"/>
              <a:t> [Accessed 10 December 2024].</a:t>
            </a:r>
          </a:p>
          <a:p>
            <a:r>
              <a:rPr lang="en-GB" dirty="0"/>
              <a:t>Scott, S. Wilson. (2024) </a:t>
            </a:r>
            <a:r>
              <a:rPr lang="en-GB" dirty="0" err="1"/>
              <a:t>Lectorial</a:t>
            </a:r>
            <a:r>
              <a:rPr lang="en-GB" dirty="0"/>
              <a:t> 10 Part ii. </a:t>
            </a:r>
            <a:r>
              <a:rPr lang="en-GB" i="1" dirty="0"/>
              <a:t>Fundamentals of marketing communications </a:t>
            </a:r>
            <a:r>
              <a:rPr lang="en-GB" dirty="0"/>
              <a:t>[online]. Available from: </a:t>
            </a:r>
            <a:r>
              <a:rPr lang="en-GB" dirty="0">
                <a:hlinkClick r:id="rId14"/>
              </a:rPr>
              <a:t>https://uwe.cloud.panopto.eu/Panopto/Pages/Viewer.aspx?id=3115eb44-76bd-4aa5-a91a-b1fb00c131ec&amp;start=783.10438</a:t>
            </a:r>
            <a:r>
              <a:rPr lang="en-GB" dirty="0"/>
              <a:t> [Accessed 03 December 2o24].</a:t>
            </a:r>
          </a:p>
          <a:p>
            <a:r>
              <a:rPr lang="en-GB" dirty="0" err="1"/>
              <a:t>SignHouse</a:t>
            </a:r>
            <a:r>
              <a:rPr lang="en-GB" dirty="0"/>
              <a:t> (2024). Duolingo Users and Growth Statistics (2024). </a:t>
            </a:r>
            <a:r>
              <a:rPr lang="en-GB" i="1" dirty="0"/>
              <a:t>Duolingo Users and Growth Statistics (2024) </a:t>
            </a:r>
            <a:r>
              <a:rPr lang="en-GB" dirty="0"/>
              <a:t>[blog]. 01 August. Available from: </a:t>
            </a:r>
            <a:r>
              <a:rPr lang="en-GB" dirty="0">
                <a:hlinkClick r:id="rId15"/>
              </a:rPr>
              <a:t>https://usesignhouse.com/blog/duolingo-stats/</a:t>
            </a:r>
            <a:r>
              <a:rPr lang="en-GB" dirty="0"/>
              <a:t> [Accessed 26 November 2024].</a:t>
            </a:r>
          </a:p>
          <a:p>
            <a:r>
              <a:rPr lang="en-GB" dirty="0" err="1"/>
              <a:t>SimilarWeb</a:t>
            </a:r>
            <a:r>
              <a:rPr lang="en-GB" dirty="0"/>
              <a:t> (2024) </a:t>
            </a:r>
            <a:r>
              <a:rPr lang="en-GB" i="1" dirty="0"/>
              <a:t>Website Performance. </a:t>
            </a:r>
            <a:r>
              <a:rPr lang="en-GB" dirty="0"/>
              <a:t>Available from: </a:t>
            </a:r>
            <a:r>
              <a:rPr lang="en-GB" dirty="0">
                <a:hlinkClick r:id="rId16"/>
              </a:rPr>
              <a:t>https://www.similarweb.com/website/duolingo.com/#overview</a:t>
            </a:r>
            <a:r>
              <a:rPr lang="en-GB" dirty="0"/>
              <a:t> [Accessed 26 November 2024]</a:t>
            </a:r>
          </a:p>
          <a:p>
            <a:r>
              <a:rPr lang="en-GB" dirty="0"/>
              <a:t>Statista (2024) </a:t>
            </a:r>
            <a:r>
              <a:rPr lang="en-GB" i="1" dirty="0"/>
              <a:t>Distribution of social network users in the United Kingdom as of September 2024, by age group</a:t>
            </a:r>
            <a:r>
              <a:rPr lang="en-GB" dirty="0"/>
              <a:t>. Available from: </a:t>
            </a:r>
            <a:r>
              <a:rPr lang="en-GB" dirty="0">
                <a:hlinkClick r:id="rId17"/>
              </a:rPr>
              <a:t>https://www.statista.com/statistics/1401021/uk-social-media-users-by-age/</a:t>
            </a:r>
            <a:r>
              <a:rPr lang="en-GB" dirty="0"/>
              <a:t> [Accessed 05 December 2024].</a:t>
            </a:r>
          </a:p>
          <a:p>
            <a:r>
              <a:rPr lang="en-GB" dirty="0"/>
              <a:t>Von Ahn, L. (2024). Duolingo’s values: a letter from our </a:t>
            </a:r>
            <a:r>
              <a:rPr lang="en-GB" dirty="0" err="1"/>
              <a:t>ceo</a:t>
            </a:r>
            <a:r>
              <a:rPr lang="en-GB" dirty="0"/>
              <a:t>. </a:t>
            </a:r>
            <a:r>
              <a:rPr lang="en-GB" i="1" dirty="0"/>
              <a:t>Duolingo blog </a:t>
            </a:r>
            <a:r>
              <a:rPr lang="en-GB" dirty="0"/>
              <a:t>[blog]. 15 April. Available from: </a:t>
            </a:r>
            <a:r>
              <a:rPr lang="en-GB" dirty="0">
                <a:hlinkClick r:id="rId18"/>
              </a:rPr>
              <a:t>https://blog.duolingo.com/duolingos-values-a-letter-from-the-ceo/</a:t>
            </a:r>
            <a:r>
              <a:rPr lang="en-GB" dirty="0"/>
              <a:t> [Accessed 04 December 2024].</a:t>
            </a:r>
          </a:p>
        </p:txBody>
      </p:sp>
    </p:spTree>
    <p:extLst>
      <p:ext uri="{BB962C8B-B14F-4D97-AF65-F5344CB8AC3E}">
        <p14:creationId xmlns:p14="http://schemas.microsoft.com/office/powerpoint/2010/main" val="6406188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14669</TotalTime>
  <Words>3538</Words>
  <Application>Microsoft Office PowerPoint</Application>
  <PresentationFormat>Widescreen</PresentationFormat>
  <Paragraphs>238</Paragraphs>
  <Slides>19</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Aptos</vt:lpstr>
      <vt:lpstr>Arial</vt:lpstr>
      <vt:lpstr>Calibri</vt:lpstr>
      <vt:lpstr>Calibri Light</vt:lpstr>
      <vt:lpstr>Office Theme</vt:lpstr>
      <vt:lpstr>Duolingo</vt:lpstr>
      <vt:lpstr>Overview</vt:lpstr>
      <vt:lpstr>The STP Process</vt:lpstr>
      <vt:lpstr>Target Audience: Segmentation</vt:lpstr>
      <vt:lpstr>Target Audience: Segmentation</vt:lpstr>
      <vt:lpstr>Target Audience: Targeting</vt:lpstr>
      <vt:lpstr>Marketing Communications Objective</vt:lpstr>
      <vt:lpstr>Positioning &amp; Brand Strategy: Perceptual Mapping</vt:lpstr>
      <vt:lpstr>Positioning &amp; Brand Strategy: Brand Equity Model</vt:lpstr>
      <vt:lpstr>Positioning &amp; Brand Strategy: Brand Equity Model</vt:lpstr>
      <vt:lpstr>Positioning &amp; Brand Strategy: Brand Equity Model</vt:lpstr>
      <vt:lpstr>Positioning &amp; Brand Strategy: Brand Equity Model</vt:lpstr>
      <vt:lpstr>Positioning &amp; Brand Strategy: SWOT Analysis</vt:lpstr>
      <vt:lpstr>Messaging Strategy</vt:lpstr>
      <vt:lpstr>Messaging Strategy: 7Ps</vt:lpstr>
      <vt:lpstr>Messaging Strategy: AIDA</vt:lpstr>
      <vt:lpstr>Communications Strategy</vt:lpstr>
      <vt:lpstr>Evaluation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dc:title>
  <dc:creator>Sion Scott-Wilson</dc:creator>
  <cp:lastModifiedBy>Luke Hammond</cp:lastModifiedBy>
  <cp:revision>144</cp:revision>
  <dcterms:created xsi:type="dcterms:W3CDTF">2023-08-25T07:31:27Z</dcterms:created>
  <dcterms:modified xsi:type="dcterms:W3CDTF">2024-12-10T18:22:35Z</dcterms:modified>
</cp:coreProperties>
</file>